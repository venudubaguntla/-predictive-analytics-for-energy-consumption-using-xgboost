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21"/>
  </p:notesMasterIdLst>
  <p:sldIdLst>
    <p:sldId id="256" r:id="rId3"/>
    <p:sldId id="257" r:id="rId4"/>
    <p:sldId id="258" r:id="rId5"/>
    <p:sldId id="259" r:id="rId6"/>
    <p:sldId id="268" r:id="rId7"/>
    <p:sldId id="269" r:id="rId8"/>
    <p:sldId id="270" r:id="rId9"/>
    <p:sldId id="271" r:id="rId10"/>
    <p:sldId id="272" r:id="rId11"/>
    <p:sldId id="262" r:id="rId12"/>
    <p:sldId id="265" r:id="rId13"/>
    <p:sldId id="264" r:id="rId14"/>
    <p:sldId id="279" r:id="rId15"/>
    <p:sldId id="280" r:id="rId16"/>
    <p:sldId id="275" r:id="rId17"/>
    <p:sldId id="302" r:id="rId18"/>
    <p:sldId id="303" r:id="rId19"/>
    <p:sldId id="301"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E22974F6-DB63-4754-A9C5-176EC249C43A}">
          <p14:sldIdLst>
            <p14:sldId id="256"/>
            <p14:sldId id="257"/>
            <p14:sldId id="258"/>
            <p14:sldId id="259"/>
            <p14:sldId id="268"/>
            <p14:sldId id="269"/>
            <p14:sldId id="270"/>
            <p14:sldId id="271"/>
            <p14:sldId id="272"/>
            <p14:sldId id="262"/>
            <p14:sldId id="265"/>
            <p14:sldId id="264"/>
            <p14:sldId id="279"/>
            <p14:sldId id="280"/>
            <p14:sldId id="275"/>
            <p14:sldId id="302"/>
            <p14:sldId id="303"/>
            <p14:sldId id="30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210" y="5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71fda71452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71fda71452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71fda71452_0_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
          <p:cNvSpPr>
            <a:spLocks noGrp="1"/>
          </p:cNvSpPr>
          <p:nvPr>
            <p:ph type="pic" idx="2"/>
          </p:nvPr>
        </p:nvSpPr>
        <p:spPr>
          <a:xfrm>
            <a:off x="1792288" y="612775"/>
            <a:ext cx="5486400" cy="4114800"/>
          </a:xfrm>
          <a:prstGeom prst="rect">
            <a:avLst/>
          </a:prstGeom>
          <a:noFill/>
          <a:ln>
            <a:noFill/>
          </a:ln>
        </p:spPr>
      </p:sp>
      <p:sp>
        <p:nvSpPr>
          <p:cNvPr id="70" name="Google Shape;70;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6"/>
        <p:cNvGrpSpPr/>
        <p:nvPr/>
      </p:nvGrpSpPr>
      <p:grpSpPr>
        <a:xfrm>
          <a:off x="0" y="0"/>
          <a:ext cx="0" cy="0"/>
          <a:chOff x="0" y="0"/>
          <a:chExt cx="0" cy="0"/>
        </a:xfrm>
      </p:grpSpPr>
      <p:sp>
        <p:nvSpPr>
          <p:cNvPr id="87" name="Google Shape;8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3"/>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974806"/>
                </a:solidFill>
                <a:latin typeface="Calibri"/>
                <a:ea typeface="Calibri"/>
                <a:cs typeface="Calibri"/>
                <a:sym typeface="Calibri"/>
              </a:defRPr>
            </a:lvl1pPr>
            <a:lvl2pPr marL="0" lvl="1" indent="0" algn="r">
              <a:spcBef>
                <a:spcPts val="0"/>
              </a:spcBef>
              <a:buNone/>
              <a:defRPr sz="1200">
                <a:solidFill>
                  <a:srgbClr val="974806"/>
                </a:solidFill>
                <a:latin typeface="Calibri"/>
                <a:ea typeface="Calibri"/>
                <a:cs typeface="Calibri"/>
                <a:sym typeface="Calibri"/>
              </a:defRPr>
            </a:lvl2pPr>
            <a:lvl3pPr marL="0" lvl="2" indent="0" algn="r">
              <a:spcBef>
                <a:spcPts val="0"/>
              </a:spcBef>
              <a:buNone/>
              <a:defRPr sz="1200">
                <a:solidFill>
                  <a:srgbClr val="974806"/>
                </a:solidFill>
                <a:latin typeface="Calibri"/>
                <a:ea typeface="Calibri"/>
                <a:cs typeface="Calibri"/>
                <a:sym typeface="Calibri"/>
              </a:defRPr>
            </a:lvl3pPr>
            <a:lvl4pPr marL="0" lvl="3" indent="0" algn="r">
              <a:spcBef>
                <a:spcPts val="0"/>
              </a:spcBef>
              <a:buNone/>
              <a:defRPr sz="1200">
                <a:solidFill>
                  <a:srgbClr val="974806"/>
                </a:solidFill>
                <a:latin typeface="Calibri"/>
                <a:ea typeface="Calibri"/>
                <a:cs typeface="Calibri"/>
                <a:sym typeface="Calibri"/>
              </a:defRPr>
            </a:lvl4pPr>
            <a:lvl5pPr marL="0" lvl="4" indent="0" algn="r">
              <a:spcBef>
                <a:spcPts val="0"/>
              </a:spcBef>
              <a:buNone/>
              <a:defRPr sz="1200">
                <a:solidFill>
                  <a:srgbClr val="974806"/>
                </a:solidFill>
                <a:latin typeface="Calibri"/>
                <a:ea typeface="Calibri"/>
                <a:cs typeface="Calibri"/>
                <a:sym typeface="Calibri"/>
              </a:defRPr>
            </a:lvl5pPr>
            <a:lvl6pPr marL="0" lvl="5" indent="0" algn="r">
              <a:spcBef>
                <a:spcPts val="0"/>
              </a:spcBef>
              <a:buNone/>
              <a:defRPr sz="1200">
                <a:solidFill>
                  <a:srgbClr val="974806"/>
                </a:solidFill>
                <a:latin typeface="Calibri"/>
                <a:ea typeface="Calibri"/>
                <a:cs typeface="Calibri"/>
                <a:sym typeface="Calibri"/>
              </a:defRPr>
            </a:lvl6pPr>
            <a:lvl7pPr marL="0" lvl="6" indent="0" algn="r">
              <a:spcBef>
                <a:spcPts val="0"/>
              </a:spcBef>
              <a:buNone/>
              <a:defRPr sz="1200">
                <a:solidFill>
                  <a:srgbClr val="974806"/>
                </a:solidFill>
                <a:latin typeface="Calibri"/>
                <a:ea typeface="Calibri"/>
                <a:cs typeface="Calibri"/>
                <a:sym typeface="Calibri"/>
              </a:defRPr>
            </a:lvl7pPr>
            <a:lvl8pPr marL="0" lvl="7" indent="0" algn="r">
              <a:spcBef>
                <a:spcPts val="0"/>
              </a:spcBef>
              <a:buNone/>
              <a:defRPr sz="1200">
                <a:solidFill>
                  <a:srgbClr val="974806"/>
                </a:solidFill>
                <a:latin typeface="Calibri"/>
                <a:ea typeface="Calibri"/>
                <a:cs typeface="Calibri"/>
                <a:sym typeface="Calibri"/>
              </a:defRPr>
            </a:lvl8pPr>
            <a:lvl9pPr marL="0" lvl="8" indent="0" algn="r">
              <a:spcBef>
                <a:spcPts val="0"/>
              </a:spcBef>
              <a:buNone/>
              <a:defRPr sz="1200">
                <a:solidFill>
                  <a:srgbClr val="97480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716274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37724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845078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15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68262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15 December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5546832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15 December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932344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15 December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364291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15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916444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15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93193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6883551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4236500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15 December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extLst>
      <p:ext uri="{BB962C8B-B14F-4D97-AF65-F5344CB8AC3E}">
        <p14:creationId xmlns:p14="http://schemas.microsoft.com/office/powerpoint/2010/main" val="3105008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5" name="Google Shape;15;p1"/>
          <p:cNvSpPr/>
          <p:nvPr/>
        </p:nvSpPr>
        <p:spPr>
          <a:xfrm>
            <a:off x="298940" y="177143"/>
            <a:ext cx="8610600" cy="6553200"/>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6" name="Google Shape;16;p1"/>
          <p:cNvCxnSpPr/>
          <p:nvPr/>
        </p:nvCxnSpPr>
        <p:spPr>
          <a:xfrm>
            <a:off x="298940" y="1219200"/>
            <a:ext cx="8610600" cy="1588"/>
          </a:xfrm>
          <a:prstGeom prst="straightConnector1">
            <a:avLst/>
          </a:prstGeom>
          <a:noFill/>
          <a:ln w="25400" cap="flat" cmpd="sng">
            <a:solidFill>
              <a:schemeClr val="dk2"/>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15 December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286209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ctrTitle"/>
          </p:nvPr>
        </p:nvSpPr>
        <p:spPr>
          <a:xfrm>
            <a:off x="571500" y="449944"/>
            <a:ext cx="7772400" cy="35051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44061"/>
              </a:buClr>
              <a:buSzPts val="2000"/>
              <a:buFont typeface="Arial"/>
              <a:buNone/>
            </a:pPr>
            <a:br>
              <a:rPr lang="en-US" sz="2000">
                <a:solidFill>
                  <a:srgbClr val="244061"/>
                </a:solidFill>
                <a:latin typeface="Arial"/>
                <a:ea typeface="Arial"/>
                <a:cs typeface="Arial"/>
                <a:sym typeface="Arial"/>
              </a:rPr>
            </a:br>
            <a:br>
              <a:rPr lang="en-US" sz="2400">
                <a:solidFill>
                  <a:srgbClr val="244061"/>
                </a:solidFill>
                <a:latin typeface="Arial"/>
                <a:ea typeface="Arial"/>
                <a:cs typeface="Arial"/>
                <a:sym typeface="Arial"/>
              </a:rPr>
            </a:br>
            <a:endParaRPr sz="2400">
              <a:solidFill>
                <a:srgbClr val="244061"/>
              </a:solidFill>
              <a:latin typeface="Arial"/>
              <a:ea typeface="Arial"/>
              <a:cs typeface="Arial"/>
              <a:sym typeface="Arial"/>
            </a:endParaRPr>
          </a:p>
        </p:txBody>
      </p:sp>
      <p:sp>
        <p:nvSpPr>
          <p:cNvPr id="97" name="Google Shape;97;p14"/>
          <p:cNvSpPr txBox="1">
            <a:spLocks noGrp="1"/>
          </p:cNvSpPr>
          <p:nvPr>
            <p:ph type="subTitle" idx="1"/>
          </p:nvPr>
        </p:nvSpPr>
        <p:spPr>
          <a:xfrm>
            <a:off x="1103128" y="3235988"/>
            <a:ext cx="6709143" cy="885409"/>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spcBef>
                <a:spcPts val="0"/>
              </a:spcBef>
              <a:spcAft>
                <a:spcPts val="0"/>
              </a:spcAft>
              <a:buClr>
                <a:srgbClr val="888888"/>
              </a:buClr>
              <a:buSzPct val="100000"/>
              <a:buNone/>
            </a:pPr>
            <a:endParaRPr sz="2800" b="1" dirty="0">
              <a:solidFill>
                <a:schemeClr val="dk1"/>
              </a:solidFill>
              <a:latin typeface="Arial"/>
              <a:ea typeface="Arial"/>
              <a:cs typeface="Arial"/>
              <a:sym typeface="Arial"/>
            </a:endParaRPr>
          </a:p>
          <a:p>
            <a:pPr marL="0" lvl="0" indent="0" algn="ctr" rtl="0">
              <a:spcBef>
                <a:spcPts val="266"/>
              </a:spcBef>
              <a:spcAft>
                <a:spcPts val="0"/>
              </a:spcAft>
              <a:buClr>
                <a:srgbClr val="888888"/>
              </a:buClr>
              <a:buSzPct val="100000"/>
              <a:buNone/>
            </a:pPr>
            <a:endParaRPr sz="2800" dirty="0">
              <a:solidFill>
                <a:schemeClr val="dk1"/>
              </a:solidFill>
              <a:latin typeface="Arial"/>
              <a:ea typeface="Arial"/>
              <a:cs typeface="Arial"/>
              <a:sym typeface="Arial"/>
            </a:endParaRPr>
          </a:p>
          <a:p>
            <a:pPr marL="0" lvl="0" indent="0">
              <a:spcBef>
                <a:spcPts val="541"/>
              </a:spcBef>
              <a:buClr>
                <a:schemeClr val="dk1"/>
              </a:buClr>
              <a:buSzPct val="100000"/>
            </a:pPr>
            <a:r>
              <a:rPr lang="en-US" sz="2800" dirty="0">
                <a:solidFill>
                  <a:schemeClr val="dk1"/>
                </a:solidFill>
                <a:latin typeface="Arial"/>
                <a:ea typeface="Arial"/>
                <a:cs typeface="Arial"/>
                <a:sym typeface="Arial"/>
              </a:rPr>
              <a:t>            </a:t>
            </a:r>
            <a:r>
              <a:rPr lang="en-US" dirty="0">
                <a:solidFill>
                  <a:schemeClr val="dk1"/>
                </a:solidFill>
                <a:latin typeface="Arial"/>
                <a:ea typeface="Arial"/>
                <a:cs typeface="Arial"/>
                <a:sym typeface="Arial"/>
              </a:rPr>
              <a:t> </a:t>
            </a:r>
            <a:r>
              <a:rPr lang="en-US" sz="8800" b="1" dirty="0">
                <a:solidFill>
                  <a:schemeClr val="tx1">
                    <a:lumMod val="95000"/>
                    <a:lumOff val="5000"/>
                  </a:schemeClr>
                </a:solidFill>
              </a:rPr>
              <a:t>Predictive Analytics for Energy Consumption Using XGBoost</a:t>
            </a:r>
            <a:endParaRPr sz="8407" b="1" dirty="0">
              <a:solidFill>
                <a:schemeClr val="tx1">
                  <a:lumMod val="95000"/>
                  <a:lumOff val="5000"/>
                </a:schemeClr>
              </a:solidFill>
              <a:latin typeface="Arial"/>
              <a:ea typeface="Arial"/>
              <a:cs typeface="Arial"/>
              <a:sym typeface="Arial"/>
            </a:endParaRPr>
          </a:p>
        </p:txBody>
      </p:sp>
      <p:sp>
        <p:nvSpPr>
          <p:cNvPr id="98" name="Google Shape;98;p14"/>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99" name="Google Shape;9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pic>
        <p:nvPicPr>
          <p:cNvPr id="101" name="Google Shape;101;p14"/>
          <p:cNvPicPr preferRelativeResize="0"/>
          <p:nvPr/>
        </p:nvPicPr>
        <p:blipFill rotWithShape="1">
          <a:blip r:embed="rId3">
            <a:alphaModFix/>
          </a:blip>
          <a:srcRect/>
          <a:stretch/>
        </p:blipFill>
        <p:spPr>
          <a:xfrm>
            <a:off x="304800" y="136525"/>
            <a:ext cx="8610600" cy="1696686"/>
          </a:xfrm>
          <a:prstGeom prst="rect">
            <a:avLst/>
          </a:prstGeom>
          <a:noFill/>
          <a:ln w="9525" cap="flat" cmpd="sng">
            <a:solidFill>
              <a:srgbClr val="002060"/>
            </a:solidFill>
            <a:prstDash val="solid"/>
            <a:round/>
            <a:headEnd type="none" w="sm" len="sm"/>
            <a:tailEnd type="none" w="sm" len="sm"/>
          </a:ln>
        </p:spPr>
      </p:pic>
      <p:sp>
        <p:nvSpPr>
          <p:cNvPr id="102" name="Google Shape;102;p14"/>
          <p:cNvSpPr txBox="1"/>
          <p:nvPr/>
        </p:nvSpPr>
        <p:spPr>
          <a:xfrm>
            <a:off x="1066800" y="1833211"/>
            <a:ext cx="655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14"/>
          <p:cNvSpPr txBox="1"/>
          <p:nvPr/>
        </p:nvSpPr>
        <p:spPr>
          <a:xfrm>
            <a:off x="457200" y="4901084"/>
            <a:ext cx="8381999" cy="1487883"/>
          </a:xfrm>
          <a:prstGeom prst="rect">
            <a:avLst/>
          </a:prstGeom>
          <a:noFill/>
          <a:ln>
            <a:noFill/>
          </a:ln>
        </p:spPr>
        <p:txBody>
          <a:bodyPr spcFirstLastPara="1" wrap="square" lIns="91425" tIns="45700" rIns="91425" bIns="45700" anchor="t" anchorCtr="0">
            <a:normAutofit lnSpcReduction="10000"/>
          </a:bodyPr>
          <a:lstStyle/>
          <a:p>
            <a:pPr marL="0" marR="0" lvl="0" indent="0" algn="l" rtl="0">
              <a:spcBef>
                <a:spcPts val="0"/>
              </a:spcBef>
              <a:spcAft>
                <a:spcPts val="0"/>
              </a:spcAft>
              <a:buClr>
                <a:schemeClr val="dk1"/>
              </a:buClr>
              <a:buSzPts val="2400"/>
              <a:buFont typeface="Arial"/>
              <a:buNone/>
            </a:pPr>
            <a:r>
              <a:rPr lang="en-US" sz="2400" b="1" u="none" dirty="0">
                <a:solidFill>
                  <a:schemeClr val="dk1"/>
                </a:solidFill>
                <a:latin typeface="Calibri"/>
                <a:ea typeface="Calibri"/>
                <a:cs typeface="Calibri"/>
                <a:sym typeface="Calibri"/>
              </a:rPr>
              <a:t>PROJECT STUDENTS                                                     GUIDE</a:t>
            </a:r>
            <a:endParaRPr sz="2400" b="1" u="none" dirty="0">
              <a:solidFill>
                <a:schemeClr val="dk1"/>
              </a:solidFill>
              <a:latin typeface="Calibri"/>
              <a:ea typeface="Calibri"/>
              <a:cs typeface="Calibri"/>
              <a:sym typeface="Calibri"/>
            </a:endParaRPr>
          </a:p>
          <a:p>
            <a:pPr lvl="0">
              <a:spcBef>
                <a:spcPts val="400"/>
              </a:spcBef>
              <a:buClr>
                <a:schemeClr val="dk1"/>
              </a:buClr>
              <a:buSzPts val="2000"/>
            </a:pPr>
            <a:r>
              <a:rPr lang="pl-PL" b="1" dirty="0"/>
              <a:t>DWARAMPUDI D V S NARAYANA REDDY</a:t>
            </a:r>
            <a:r>
              <a:rPr lang="en-US" b="1" dirty="0"/>
              <a:t>,                                                 Dr. J. JABEZ ,M.E.,PhD.,</a:t>
            </a:r>
          </a:p>
          <a:p>
            <a:pPr lvl="0">
              <a:spcBef>
                <a:spcPts val="400"/>
              </a:spcBef>
              <a:buClr>
                <a:schemeClr val="dk1"/>
              </a:buClr>
              <a:buSzPts val="2000"/>
            </a:pPr>
            <a:r>
              <a:rPr lang="pl-PL" b="1" dirty="0"/>
              <a:t>42110325</a:t>
            </a:r>
            <a:r>
              <a:rPr lang="en-US" b="1" dirty="0"/>
              <a:t>                                                                                                          Professor,CSE</a:t>
            </a:r>
          </a:p>
          <a:p>
            <a:pPr lvl="0">
              <a:spcBef>
                <a:spcPts val="400"/>
              </a:spcBef>
              <a:buClr>
                <a:schemeClr val="dk1"/>
              </a:buClr>
              <a:buSzPts val="2000"/>
            </a:pPr>
            <a:r>
              <a:rPr lang="en-US" b="1" dirty="0"/>
              <a:t>DUBAGUNTLA VENU LAKSHMI SAI,</a:t>
            </a:r>
          </a:p>
          <a:p>
            <a:pPr lvl="0">
              <a:spcBef>
                <a:spcPts val="400"/>
              </a:spcBef>
              <a:buClr>
                <a:schemeClr val="dk1"/>
              </a:buClr>
              <a:buSzPts val="2000"/>
            </a:pPr>
            <a:r>
              <a:rPr lang="en-US" b="1" u="none" dirty="0">
                <a:solidFill>
                  <a:schemeClr val="dk1"/>
                </a:solidFill>
                <a:latin typeface="Calibri"/>
                <a:ea typeface="Calibri"/>
                <a:cs typeface="Calibri"/>
                <a:sym typeface="Calibri"/>
              </a:rPr>
              <a:t>42110321</a:t>
            </a:r>
            <a:endParaRPr b="1" u="none" dirty="0">
              <a:solidFill>
                <a:schemeClr val="dk1"/>
              </a:solidFill>
              <a:latin typeface="Calibri"/>
              <a:ea typeface="Calibri"/>
              <a:cs typeface="Calibri"/>
              <a:sym typeface="Calibri"/>
            </a:endParaRPr>
          </a:p>
        </p:txBody>
      </p:sp>
      <p:sp>
        <p:nvSpPr>
          <p:cNvPr id="104" name="Google Shape;104;p14"/>
          <p:cNvSpPr txBox="1"/>
          <p:nvPr/>
        </p:nvSpPr>
        <p:spPr>
          <a:xfrm>
            <a:off x="800100" y="2073257"/>
            <a:ext cx="7689559" cy="885409"/>
          </a:xfrm>
          <a:prstGeom prst="rect">
            <a:avLst/>
          </a:prstGeom>
          <a:noFill/>
          <a:ln>
            <a:noFill/>
          </a:ln>
        </p:spPr>
        <p:txBody>
          <a:bodyPr spcFirstLastPara="1" wrap="square" lIns="91425" tIns="45700" rIns="91425" bIns="45700" anchor="t" anchorCtr="0">
            <a:noAutofit/>
          </a:bodyPr>
          <a:lstStyle/>
          <a:p>
            <a:pPr algn="ctr"/>
            <a:r>
              <a:rPr lang="en-US" sz="2000" b="1" dirty="0">
                <a:solidFill>
                  <a:schemeClr val="tx1"/>
                </a:solidFill>
                <a:latin typeface="Arial" pitchFamily="34" charset="0"/>
                <a:cs typeface="Arial" pitchFamily="34" charset="0"/>
              </a:rPr>
              <a:t>DEPARTMENT OF COMPUTER SCIENCE AND ENGINEERING</a:t>
            </a:r>
          </a:p>
          <a:p>
            <a:pPr algn="ctr"/>
            <a:r>
              <a:rPr lang="en-US" sz="2000" b="1" dirty="0">
                <a:solidFill>
                  <a:schemeClr val="tx1"/>
                </a:solidFill>
                <a:latin typeface="Arial" pitchFamily="34" charset="0"/>
                <a:cs typeface="Arial" pitchFamily="34" charset="0"/>
              </a:rPr>
              <a:t>PROJECT PHASE-II</a:t>
            </a:r>
          </a:p>
          <a:p>
            <a:pPr algn="ctr"/>
            <a:r>
              <a:rPr lang="en-US" sz="2000" b="1" dirty="0">
                <a:solidFill>
                  <a:schemeClr val="tx1"/>
                </a:solidFill>
                <a:latin typeface="Arial" pitchFamily="34" charset="0"/>
                <a:cs typeface="Arial" pitchFamily="34" charset="0"/>
              </a:rPr>
              <a:t>REVIEW1</a:t>
            </a:r>
            <a:endParaRPr lang="en-US" sz="2000" b="1" dirty="0">
              <a:solidFill>
                <a:srgbClr val="7030A0"/>
              </a:solidFill>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AGENDA</a:t>
            </a:r>
            <a:endParaRPr/>
          </a:p>
        </p:txBody>
      </p:sp>
      <p:sp>
        <p:nvSpPr>
          <p:cNvPr id="110" name="Google Shape;110;p15"/>
          <p:cNvSpPr txBox="1">
            <a:spLocks noGrp="1"/>
          </p:cNvSpPr>
          <p:nvPr>
            <p:ph type="body" idx="1"/>
          </p:nvPr>
        </p:nvSpPr>
        <p:spPr>
          <a:xfrm>
            <a:off x="457200" y="1600993"/>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dirty="0"/>
              <a:t>Abstract</a:t>
            </a:r>
            <a:endParaRPr dirty="0"/>
          </a:p>
          <a:p>
            <a:pPr marL="342900" lvl="0" indent="-342900" algn="l" rtl="0">
              <a:spcBef>
                <a:spcPts val="640"/>
              </a:spcBef>
              <a:spcAft>
                <a:spcPts val="0"/>
              </a:spcAft>
              <a:buClr>
                <a:schemeClr val="dk1"/>
              </a:buClr>
              <a:buSzPts val="3200"/>
              <a:buChar char="•"/>
            </a:pPr>
            <a:r>
              <a:rPr lang="en-US" dirty="0"/>
              <a:t>Objective(s)</a:t>
            </a:r>
            <a:endParaRPr dirty="0"/>
          </a:p>
          <a:p>
            <a:pPr marL="342900" lvl="0" indent="-342900" algn="l" rtl="0">
              <a:spcBef>
                <a:spcPts val="640"/>
              </a:spcBef>
              <a:spcAft>
                <a:spcPts val="0"/>
              </a:spcAft>
              <a:buClr>
                <a:schemeClr val="dk1"/>
              </a:buClr>
              <a:buSzPts val="3200"/>
              <a:buChar char="•"/>
            </a:pPr>
            <a:r>
              <a:rPr lang="en-US" dirty="0"/>
              <a:t>Literature Survey</a:t>
            </a:r>
            <a:endParaRPr dirty="0"/>
          </a:p>
          <a:p>
            <a:pPr marL="342900" lvl="0" indent="-342900" algn="l" rtl="0">
              <a:spcBef>
                <a:spcPts val="640"/>
              </a:spcBef>
              <a:spcAft>
                <a:spcPts val="0"/>
              </a:spcAft>
              <a:buClr>
                <a:schemeClr val="dk1"/>
              </a:buClr>
              <a:buSzPts val="3200"/>
              <a:buChar char="•"/>
            </a:pPr>
            <a:r>
              <a:rPr lang="en-US" dirty="0"/>
              <a:t>Inferences from Literature Survey</a:t>
            </a:r>
            <a:endParaRPr dirty="0"/>
          </a:p>
          <a:p>
            <a:pPr marL="342900" lvl="0" indent="-342900" algn="l" rtl="0">
              <a:spcBef>
                <a:spcPts val="640"/>
              </a:spcBef>
              <a:spcAft>
                <a:spcPts val="0"/>
              </a:spcAft>
              <a:buClr>
                <a:schemeClr val="dk1"/>
              </a:buClr>
              <a:buSzPts val="3200"/>
              <a:buChar char="•"/>
            </a:pPr>
            <a:r>
              <a:rPr lang="en-US" dirty="0"/>
              <a:t>Proposed System</a:t>
            </a:r>
          </a:p>
          <a:p>
            <a:pPr marL="342900" lvl="0">
              <a:spcBef>
                <a:spcPts val="640"/>
              </a:spcBef>
              <a:buSzPts val="3200"/>
            </a:pPr>
            <a:r>
              <a:rPr lang="en-US" dirty="0"/>
              <a:t>Modules</a:t>
            </a:r>
          </a:p>
          <a:p>
            <a:pPr marL="342900" lvl="0">
              <a:spcBef>
                <a:spcPts val="640"/>
              </a:spcBef>
              <a:buSzPts val="3200"/>
            </a:pPr>
            <a:r>
              <a:rPr lang="en-US" dirty="0"/>
              <a:t>Result and Discussion</a:t>
            </a:r>
          </a:p>
          <a:p>
            <a:pPr marL="342900" lvl="0" indent="-342900" algn="l" rtl="0">
              <a:spcBef>
                <a:spcPts val="640"/>
              </a:spcBef>
              <a:spcAft>
                <a:spcPts val="0"/>
              </a:spcAft>
              <a:buClr>
                <a:schemeClr val="dk1"/>
              </a:buClr>
              <a:buSzPts val="3200"/>
              <a:buChar char="•"/>
            </a:pPr>
            <a:r>
              <a:rPr lang="en-US" dirty="0"/>
              <a:t>References</a:t>
            </a:r>
            <a:endParaRPr dirty="0"/>
          </a:p>
          <a:p>
            <a:pPr marL="342900" lvl="0" indent="-139700" algn="l" rtl="0">
              <a:spcBef>
                <a:spcPts val="640"/>
              </a:spcBef>
              <a:spcAft>
                <a:spcPts val="0"/>
              </a:spcAft>
              <a:buClr>
                <a:schemeClr val="dk1"/>
              </a:buClr>
              <a:buSzPts val="3200"/>
              <a:buNone/>
            </a:pPr>
            <a:endParaRPr dirty="0"/>
          </a:p>
          <a:p>
            <a:pPr marL="342900" lvl="0" indent="-139700" algn="l" rtl="0">
              <a:spcBef>
                <a:spcPts val="640"/>
              </a:spcBef>
              <a:spcAft>
                <a:spcPts val="0"/>
              </a:spcAft>
              <a:buClr>
                <a:schemeClr val="dk1"/>
              </a:buClr>
              <a:buSzPts val="3200"/>
              <a:buNone/>
            </a:pPr>
            <a:endParaRPr dirty="0"/>
          </a:p>
          <a:p>
            <a:pPr marL="342900" lvl="0" indent="-139700" algn="l" rtl="0">
              <a:spcBef>
                <a:spcPts val="640"/>
              </a:spcBef>
              <a:spcAft>
                <a:spcPts val="0"/>
              </a:spcAft>
              <a:buClr>
                <a:schemeClr val="dk1"/>
              </a:buClr>
              <a:buSzPts val="3200"/>
              <a:buNone/>
            </a:pPr>
            <a:endParaRPr dirty="0"/>
          </a:p>
        </p:txBody>
      </p:sp>
      <p:sp>
        <p:nvSpPr>
          <p:cNvPr id="111" name="Google Shape;11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12" name="Google Shape;11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13" name="Google Shape;11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dirty="0"/>
              <a:t>ABSTRACT</a:t>
            </a:r>
            <a:endParaRPr dirty="0"/>
          </a:p>
        </p:txBody>
      </p:sp>
      <p:sp>
        <p:nvSpPr>
          <p:cNvPr id="119" name="Google Shape;119;p16"/>
          <p:cNvSpPr txBox="1">
            <a:spLocks noGrp="1"/>
          </p:cNvSpPr>
          <p:nvPr>
            <p:ph type="body" idx="1"/>
          </p:nvPr>
        </p:nvSpPr>
        <p:spPr>
          <a:xfrm>
            <a:off x="457200" y="1658175"/>
            <a:ext cx="8339100" cy="3733800"/>
          </a:xfrm>
          <a:prstGeom prst="rect">
            <a:avLst/>
          </a:prstGeom>
          <a:noFill/>
          <a:ln>
            <a:noFill/>
          </a:ln>
        </p:spPr>
        <p:txBody>
          <a:bodyPr spcFirstLastPara="1" wrap="square" lIns="91425" tIns="45700" rIns="91425" bIns="45700" anchor="t" anchorCtr="0">
            <a:noAutofit/>
          </a:bodyPr>
          <a:lstStyle/>
          <a:p>
            <a:pPr marL="0" lvl="0" indent="0" algn="just">
              <a:buNone/>
            </a:pPr>
            <a:r>
              <a:rPr lang="en-US" sz="2800" dirty="0"/>
              <a:t>This project aims to solve the growing challenge of forecasting energy consumption due to increasing global demand, climate variation, and the need for sustainable energy use. Accurate energy prediction helps reduce waste, enhance efficiency, and ensure proper energy distribution. To tackle this, we use XGBoost (Extreme Gradient Boosting)—a powerful and scalable machine learning algorithm known for handling complex, non-linear patterns in data.</a:t>
            </a:r>
            <a:endParaRPr sz="2700" dirty="0"/>
          </a:p>
        </p:txBody>
      </p:sp>
      <p:sp>
        <p:nvSpPr>
          <p:cNvPr id="120" name="Google Shape;1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21" name="Google Shape;1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22" name="Google Shape;1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OBJECTIVE(S)</a:t>
            </a:r>
            <a:endParaRPr dirty="0"/>
          </a:p>
        </p:txBody>
      </p:sp>
      <p:sp>
        <p:nvSpPr>
          <p:cNvPr id="128" name="Google Shape;128;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indent="-457200" algn="just">
              <a:spcBef>
                <a:spcPts val="1200"/>
              </a:spcBef>
              <a:buSzPct val="100000"/>
              <a:buFont typeface="Arial" panose="020B0604020202020204" pitchFamily="34" charset="0"/>
              <a:buChar char="•"/>
            </a:pPr>
            <a:r>
              <a:rPr lang="en-US" sz="2800" dirty="0"/>
              <a:t>To develop a high-accuracy predictive model using XGBoost (Extreme Gradient Boosting).</a:t>
            </a:r>
          </a:p>
          <a:p>
            <a:pPr indent="-457200" algn="just">
              <a:spcBef>
                <a:spcPts val="1200"/>
              </a:spcBef>
              <a:buSzPct val="100000"/>
              <a:buFont typeface="Arial" panose="020B0604020202020204" pitchFamily="34" charset="0"/>
              <a:buChar char="•"/>
            </a:pPr>
            <a:r>
              <a:rPr lang="en-US" sz="2800" dirty="0"/>
              <a:t>Forecast energy consumption based on environmental and operational variables.</a:t>
            </a:r>
          </a:p>
          <a:p>
            <a:pPr indent="-457200" algn="just">
              <a:spcBef>
                <a:spcPts val="1200"/>
              </a:spcBef>
              <a:buSzPct val="100000"/>
              <a:buFont typeface="Arial" panose="020B0604020202020204" pitchFamily="34" charset="0"/>
              <a:buChar char="•"/>
            </a:pPr>
            <a:r>
              <a:rPr lang="en-US" sz="2800" dirty="0"/>
              <a:t>Improved energy efficiency and reduced waste lead to cost savings for utility companies and consumers.</a:t>
            </a:r>
          </a:p>
          <a:p>
            <a:pPr marL="0" indent="0" algn="just">
              <a:spcBef>
                <a:spcPts val="1200"/>
              </a:spcBef>
              <a:buSzPct val="100000"/>
              <a:buNone/>
            </a:pPr>
            <a:endParaRPr lang="en-US" sz="2800" dirty="0"/>
          </a:p>
          <a:p>
            <a:pPr marL="0" lvl="0" indent="0" algn="l" rtl="0">
              <a:spcBef>
                <a:spcPts val="1200"/>
              </a:spcBef>
              <a:spcAft>
                <a:spcPts val="0"/>
              </a:spcAft>
              <a:buClr>
                <a:schemeClr val="dk1"/>
              </a:buClr>
              <a:buSzPct val="100000"/>
              <a:buNone/>
            </a:pPr>
            <a:endParaRPr dirty="0"/>
          </a:p>
        </p:txBody>
      </p:sp>
      <p:sp>
        <p:nvSpPr>
          <p:cNvPr id="129" name="Google Shape;12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30" name="Google Shape;13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31" name="Google Shape;13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SURVEY(1/5)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40904226"/>
              </p:ext>
            </p:extLst>
          </p:nvPr>
        </p:nvGraphicFramePr>
        <p:xfrm>
          <a:off x="615460" y="1371600"/>
          <a:ext cx="8071340" cy="4797188"/>
        </p:xfrm>
        <a:graphic>
          <a:graphicData uri="http://schemas.openxmlformats.org/drawingml/2006/table">
            <a:tbl>
              <a:tblPr firstRow="1" bandRow="1">
                <a:tableStyleId>{5C22544A-7EE6-4342-B048-85BDC9FD1C3A}</a:tableStyleId>
              </a:tblPr>
              <a:tblGrid>
                <a:gridCol w="544600">
                  <a:extLst>
                    <a:ext uri="{9D8B030D-6E8A-4147-A177-3AD203B41FA5}">
                      <a16:colId xmlns:a16="http://schemas.microsoft.com/office/drawing/2014/main" val="20000"/>
                    </a:ext>
                  </a:extLst>
                </a:gridCol>
                <a:gridCol w="1815152">
                  <a:extLst>
                    <a:ext uri="{9D8B030D-6E8A-4147-A177-3AD203B41FA5}">
                      <a16:colId xmlns:a16="http://schemas.microsoft.com/office/drawing/2014/main" val="3854315877"/>
                    </a:ext>
                  </a:extLst>
                </a:gridCol>
                <a:gridCol w="1501254">
                  <a:extLst>
                    <a:ext uri="{9D8B030D-6E8A-4147-A177-3AD203B41FA5}">
                      <a16:colId xmlns:a16="http://schemas.microsoft.com/office/drawing/2014/main" val="20002"/>
                    </a:ext>
                  </a:extLst>
                </a:gridCol>
                <a:gridCol w="1326926">
                  <a:extLst>
                    <a:ext uri="{9D8B030D-6E8A-4147-A177-3AD203B41FA5}">
                      <a16:colId xmlns:a16="http://schemas.microsoft.com/office/drawing/2014/main" val="20003"/>
                    </a:ext>
                  </a:extLst>
                </a:gridCol>
                <a:gridCol w="2883408">
                  <a:extLst>
                    <a:ext uri="{9D8B030D-6E8A-4147-A177-3AD203B41FA5}">
                      <a16:colId xmlns:a16="http://schemas.microsoft.com/office/drawing/2014/main" val="20004"/>
                    </a:ext>
                  </a:extLst>
                </a:gridCol>
              </a:tblGrid>
              <a:tr h="1127626">
                <a:tc>
                  <a:txBody>
                    <a:bodyPr/>
                    <a:lstStyle/>
                    <a:p>
                      <a:r>
                        <a:rPr lang="en-US" dirty="0"/>
                        <a:t>S. No</a:t>
                      </a:r>
                    </a:p>
                  </a:txBody>
                  <a:tcPr/>
                </a:tc>
                <a:tc>
                  <a:txBody>
                    <a:bodyPr/>
                    <a:lstStyle/>
                    <a:p>
                      <a:r>
                        <a:rPr lang="en-US" dirty="0"/>
                        <a:t>Paper Title</a:t>
                      </a:r>
                    </a:p>
                  </a:txBody>
                  <a:tcPr/>
                </a:tc>
                <a:tc>
                  <a:txBody>
                    <a:bodyPr/>
                    <a:lstStyle/>
                    <a:p>
                      <a:r>
                        <a:rPr lang="en-US" dirty="0"/>
                        <a:t>    Authors</a:t>
                      </a:r>
                    </a:p>
                  </a:txBody>
                  <a:tcPr/>
                </a:tc>
                <a:tc>
                  <a:txBody>
                    <a:bodyPr/>
                    <a:lstStyle/>
                    <a:p>
                      <a:r>
                        <a:rPr lang="en-US" dirty="0"/>
                        <a:t>Publisher /Year</a:t>
                      </a:r>
                    </a:p>
                  </a:txBody>
                  <a:tcPr/>
                </a:tc>
                <a:tc>
                  <a:txBody>
                    <a:bodyPr/>
                    <a:lstStyle/>
                    <a:p>
                      <a:r>
                        <a:rPr lang="en-US" dirty="0"/>
                        <a:t>Key Contributions</a:t>
                      </a:r>
                    </a:p>
                  </a:txBody>
                  <a:tcPr/>
                </a:tc>
                <a:extLst>
                  <a:ext uri="{0D108BD9-81ED-4DB2-BD59-A6C34878D82A}">
                    <a16:rowId xmlns:a16="http://schemas.microsoft.com/office/drawing/2014/main" val="10000"/>
                  </a:ext>
                </a:extLst>
              </a:tr>
              <a:tr h="3669562">
                <a:tc>
                  <a:txBody>
                    <a:bodyPr/>
                    <a:lstStyle/>
                    <a:p>
                      <a:r>
                        <a:rPr lang="en-US" sz="1800" dirty="0"/>
                        <a:t>1</a:t>
                      </a:r>
                    </a:p>
                  </a:txBody>
                  <a:tcPr/>
                </a:tc>
                <a:tc>
                  <a:txBody>
                    <a:bodyPr/>
                    <a:lstStyle/>
                    <a:p>
                      <a:r>
                        <a:rPr lang="en-US" sz="1800" dirty="0"/>
                        <a:t>Energy Consumption Prediction Using </a:t>
                      </a:r>
                      <a:r>
                        <a:rPr lang="en-US" sz="1800" dirty="0" err="1"/>
                        <a:t>XGBoost</a:t>
                      </a:r>
                      <a:r>
                        <a:rPr lang="en-US" sz="1800" dirty="0"/>
                        <a:t> and Time-Series Feature Engineering</a:t>
                      </a:r>
                    </a:p>
                  </a:txBody>
                  <a:tcPr/>
                </a:tc>
                <a:tc>
                  <a:txBody>
                    <a:bodyPr/>
                    <a:lstStyle/>
                    <a:p>
                      <a:r>
                        <a:rPr lang="en-US" sz="1800" dirty="0"/>
                        <a:t> </a:t>
                      </a:r>
                      <a:r>
                        <a:rPr lang="en-IN" sz="1800" dirty="0"/>
                        <a:t>R. Prakash, S. Nair</a:t>
                      </a:r>
                      <a:endParaRPr lang="en-US" sz="1800" dirty="0"/>
                    </a:p>
                  </a:txBody>
                  <a:tcPr/>
                </a:tc>
                <a:tc>
                  <a:txBody>
                    <a:bodyPr/>
                    <a:lstStyle/>
                    <a:p>
                      <a:r>
                        <a:rPr lang="en-US" sz="1800" dirty="0"/>
                        <a:t>2022</a:t>
                      </a:r>
                    </a:p>
                  </a:txBody>
                  <a:tcPr/>
                </a:tc>
                <a:tc>
                  <a:txBody>
                    <a:bodyPr/>
                    <a:lstStyle/>
                    <a:p>
                      <a:pPr marL="285750" indent="-285750">
                        <a:buFont typeface="Arial" panose="020B0604020202020204" pitchFamily="34" charset="0"/>
                        <a:buChar char="•"/>
                      </a:pPr>
                      <a:r>
                        <a:rPr lang="en-US" sz="1800" dirty="0"/>
                        <a:t>Developed a load forecasting model using </a:t>
                      </a:r>
                      <a:r>
                        <a:rPr lang="en-US" sz="1800" dirty="0" err="1"/>
                        <a:t>XGBoost</a:t>
                      </a:r>
                      <a:r>
                        <a:rPr lang="en-US" sz="1800" dirty="0"/>
                        <a:t>. </a:t>
                      </a:r>
                    </a:p>
                    <a:p>
                      <a:pPr marL="285750" indent="-285750">
                        <a:buFont typeface="Arial" panose="020B0604020202020204" pitchFamily="34" charset="0"/>
                        <a:buChar char="•"/>
                      </a:pPr>
                      <a:r>
                        <a:rPr lang="en-US" sz="1800" dirty="0"/>
                        <a:t>Incorporated time-series feature engineering to improve prediction accuracy.</a:t>
                      </a:r>
                    </a:p>
                    <a:p>
                      <a:pPr marL="285750" indent="-285750">
                        <a:buFont typeface="Arial" panose="020B0604020202020204" pitchFamily="34" charset="0"/>
                        <a:buChar char="•"/>
                      </a:pPr>
                      <a:r>
                        <a:rPr lang="en-US" sz="1800" dirty="0"/>
                        <a:t>Demonstrated superior performance compared to baseline models.</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279" y="200608"/>
            <a:ext cx="8229600" cy="1143000"/>
          </a:xfrm>
        </p:spPr>
        <p:txBody>
          <a:bodyPr/>
          <a:lstStyle/>
          <a:p>
            <a:r>
              <a:rPr lang="en-US" dirty="0"/>
              <a:t>LITERATURE SURVEY(2/5)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7545590"/>
              </p:ext>
            </p:extLst>
          </p:nvPr>
        </p:nvGraphicFramePr>
        <p:xfrm>
          <a:off x="457200" y="1600198"/>
          <a:ext cx="8229600" cy="4556762"/>
        </p:xfrm>
        <a:graphic>
          <a:graphicData uri="http://schemas.openxmlformats.org/drawingml/2006/table">
            <a:tbl>
              <a:tblPr firstRow="1" bandRow="1">
                <a:tableStyleId>{5C22544A-7EE6-4342-B048-85BDC9FD1C3A}</a:tableStyleId>
              </a:tblPr>
              <a:tblGrid>
                <a:gridCol w="871728">
                  <a:extLst>
                    <a:ext uri="{9D8B030D-6E8A-4147-A177-3AD203B41FA5}">
                      <a16:colId xmlns:a16="http://schemas.microsoft.com/office/drawing/2014/main" val="20000"/>
                    </a:ext>
                  </a:extLst>
                </a:gridCol>
                <a:gridCol w="1658896">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2890664">
                  <a:extLst>
                    <a:ext uri="{9D8B030D-6E8A-4147-A177-3AD203B41FA5}">
                      <a16:colId xmlns:a16="http://schemas.microsoft.com/office/drawing/2014/main" val="20004"/>
                    </a:ext>
                  </a:extLst>
                </a:gridCol>
              </a:tblGrid>
              <a:tr h="842011">
                <a:tc>
                  <a:txBody>
                    <a:bodyPr/>
                    <a:lstStyle/>
                    <a:p>
                      <a:r>
                        <a:rPr lang="en-US" dirty="0"/>
                        <a:t>S. No</a:t>
                      </a:r>
                    </a:p>
                  </a:txBody>
                  <a:tcPr/>
                </a:tc>
                <a:tc>
                  <a:txBody>
                    <a:bodyPr/>
                    <a:lstStyle/>
                    <a:p>
                      <a:r>
                        <a:rPr lang="en-US" dirty="0"/>
                        <a:t>          Paper Title</a:t>
                      </a:r>
                    </a:p>
                  </a:txBody>
                  <a:tcPr/>
                </a:tc>
                <a:tc>
                  <a:txBody>
                    <a:bodyPr/>
                    <a:lstStyle/>
                    <a:p>
                      <a:r>
                        <a:rPr lang="en-US" dirty="0"/>
                        <a:t>    Authors</a:t>
                      </a:r>
                    </a:p>
                  </a:txBody>
                  <a:tcPr/>
                </a:tc>
                <a:tc>
                  <a:txBody>
                    <a:bodyPr/>
                    <a:lstStyle/>
                    <a:p>
                      <a:r>
                        <a:rPr lang="en-US" dirty="0"/>
                        <a:t>Publisher /Year</a:t>
                      </a:r>
                    </a:p>
                  </a:txBody>
                  <a:tcPr/>
                </a:tc>
                <a:tc>
                  <a:txBody>
                    <a:bodyPr/>
                    <a:lstStyle/>
                    <a:p>
                      <a:r>
                        <a:rPr lang="en-US" dirty="0"/>
                        <a:t>Key Contributions</a:t>
                      </a:r>
                    </a:p>
                  </a:txBody>
                  <a:tcPr/>
                </a:tc>
                <a:extLst>
                  <a:ext uri="{0D108BD9-81ED-4DB2-BD59-A6C34878D82A}">
                    <a16:rowId xmlns:a16="http://schemas.microsoft.com/office/drawing/2014/main" val="10000"/>
                  </a:ext>
                </a:extLst>
              </a:tr>
              <a:tr h="3714751">
                <a:tc>
                  <a:txBody>
                    <a:bodyPr/>
                    <a:lstStyle/>
                    <a:p>
                      <a:r>
                        <a:rPr lang="en-US" sz="1800" dirty="0"/>
                        <a:t>2</a:t>
                      </a:r>
                    </a:p>
                  </a:txBody>
                  <a:tcPr/>
                </a:tc>
                <a:tc>
                  <a:txBody>
                    <a:bodyPr/>
                    <a:lstStyle/>
                    <a:p>
                      <a:r>
                        <a:rPr lang="en-US" sz="1800" dirty="0"/>
                        <a:t>Machine Learning-Based Prediction of Urban Energy Consumption with Weather Data Fusion</a:t>
                      </a:r>
                    </a:p>
                  </a:txBody>
                  <a:tcPr/>
                </a:tc>
                <a:tc>
                  <a:txBody>
                    <a:bodyPr/>
                    <a:lstStyle/>
                    <a:p>
                      <a:r>
                        <a:rPr lang="pt-BR" sz="1800" dirty="0"/>
                        <a:t>L. Gómez, R. A. Reátegui, M. Ortega</a:t>
                      </a:r>
                      <a:endParaRPr lang="en-US" sz="1800" dirty="0"/>
                    </a:p>
                  </a:txBody>
                  <a:tcPr/>
                </a:tc>
                <a:tc>
                  <a:txBody>
                    <a:bodyPr/>
                    <a:lstStyle/>
                    <a:p>
                      <a:r>
                        <a:rPr lang="en-US" sz="1800" dirty="0"/>
                        <a:t>2021</a:t>
                      </a:r>
                    </a:p>
                  </a:txBody>
                  <a:tcPr/>
                </a:tc>
                <a:tc>
                  <a:txBody>
                    <a:bodyPr/>
                    <a:lstStyle/>
                    <a:p>
                      <a:pPr>
                        <a:buFont typeface="Arial" pitchFamily="34" charset="0"/>
                        <a:buChar char="•"/>
                      </a:pPr>
                      <a:r>
                        <a:rPr lang="en-US" sz="1800" dirty="0"/>
                        <a:t>Proposed a machine learning framework integrating weather and urban data. </a:t>
                      </a:r>
                    </a:p>
                    <a:p>
                      <a:pPr>
                        <a:buFont typeface="Arial" pitchFamily="34" charset="0"/>
                        <a:buChar char="•"/>
                      </a:pPr>
                      <a:r>
                        <a:rPr lang="en-US" sz="1800" dirty="0"/>
                        <a:t>Enhanced prediction reliability for urban energy consumption. </a:t>
                      </a:r>
                    </a:p>
                    <a:p>
                      <a:pPr>
                        <a:buFont typeface="Arial" pitchFamily="34" charset="0"/>
                        <a:buChar char="•"/>
                      </a:pPr>
                      <a:r>
                        <a:rPr lang="en-US" sz="1800" dirty="0"/>
                        <a:t>Showed effectiveness of data fusion techniques in ML-based </a:t>
                      </a:r>
                      <a:r>
                        <a:rPr lang="en-US" sz="1800" dirty="0" err="1"/>
                        <a:t>forecastin</a:t>
                      </a:r>
                      <a:endParaRPr lang="en-US" sz="1800"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SURVEY(3/5)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99471984"/>
              </p:ext>
            </p:extLst>
          </p:nvPr>
        </p:nvGraphicFramePr>
        <p:xfrm>
          <a:off x="457200" y="1264640"/>
          <a:ext cx="8229600" cy="4331487"/>
        </p:xfrm>
        <a:graphic>
          <a:graphicData uri="http://schemas.openxmlformats.org/drawingml/2006/table">
            <a:tbl>
              <a:tblPr firstRow="1" bandRow="1">
                <a:tableStyleId>{5C22544A-7EE6-4342-B048-85BDC9FD1C3A}</a:tableStyleId>
              </a:tblPr>
              <a:tblGrid>
                <a:gridCol w="658416">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gridCol w="3178696">
                  <a:extLst>
                    <a:ext uri="{9D8B030D-6E8A-4147-A177-3AD203B41FA5}">
                      <a16:colId xmlns:a16="http://schemas.microsoft.com/office/drawing/2014/main" val="20004"/>
                    </a:ext>
                  </a:extLst>
                </a:gridCol>
              </a:tblGrid>
              <a:tr h="669412">
                <a:tc>
                  <a:txBody>
                    <a:bodyPr/>
                    <a:lstStyle/>
                    <a:p>
                      <a:r>
                        <a:rPr lang="en-US" dirty="0"/>
                        <a:t>S. No</a:t>
                      </a:r>
                    </a:p>
                  </a:txBody>
                  <a:tcPr/>
                </a:tc>
                <a:tc>
                  <a:txBody>
                    <a:bodyPr/>
                    <a:lstStyle/>
                    <a:p>
                      <a:r>
                        <a:rPr lang="en-US" dirty="0"/>
                        <a:t>          Paper Title</a:t>
                      </a:r>
                    </a:p>
                  </a:txBody>
                  <a:tcPr/>
                </a:tc>
                <a:tc>
                  <a:txBody>
                    <a:bodyPr/>
                    <a:lstStyle/>
                    <a:p>
                      <a:r>
                        <a:rPr lang="en-US" dirty="0"/>
                        <a:t>    Authors</a:t>
                      </a:r>
                    </a:p>
                  </a:txBody>
                  <a:tcPr/>
                </a:tc>
                <a:tc>
                  <a:txBody>
                    <a:bodyPr/>
                    <a:lstStyle/>
                    <a:p>
                      <a:r>
                        <a:rPr lang="en-US" dirty="0"/>
                        <a:t>Publisher /Year</a:t>
                      </a:r>
                    </a:p>
                  </a:txBody>
                  <a:tcPr/>
                </a:tc>
                <a:tc>
                  <a:txBody>
                    <a:bodyPr/>
                    <a:lstStyle/>
                    <a:p>
                      <a:r>
                        <a:rPr lang="en-US" dirty="0"/>
                        <a:t>Key Contributions</a:t>
                      </a:r>
                    </a:p>
                  </a:txBody>
                  <a:tcPr/>
                </a:tc>
                <a:extLst>
                  <a:ext uri="{0D108BD9-81ED-4DB2-BD59-A6C34878D82A}">
                    <a16:rowId xmlns:a16="http://schemas.microsoft.com/office/drawing/2014/main" val="10000"/>
                  </a:ext>
                </a:extLst>
              </a:tr>
              <a:tr h="3662075">
                <a:tc>
                  <a:txBody>
                    <a:bodyPr/>
                    <a:lstStyle/>
                    <a:p>
                      <a:r>
                        <a:rPr lang="en-US" sz="1800" dirty="0"/>
                        <a:t>3</a:t>
                      </a:r>
                    </a:p>
                  </a:txBody>
                  <a:tcPr/>
                </a:tc>
                <a:tc>
                  <a:txBody>
                    <a:bodyPr/>
                    <a:lstStyle/>
                    <a:p>
                      <a:r>
                        <a:rPr lang="en-US" sz="1800" dirty="0"/>
                        <a:t>An Application of Ensemble Machine Learning for Forecasting Electrical Demand</a:t>
                      </a:r>
                    </a:p>
                  </a:txBody>
                  <a:tcPr/>
                </a:tc>
                <a:tc>
                  <a:txBody>
                    <a:bodyPr/>
                    <a:lstStyle/>
                    <a:p>
                      <a:r>
                        <a:rPr lang="en-IN" sz="1800" dirty="0"/>
                        <a:t>A. Torres, A. </a:t>
                      </a:r>
                      <a:r>
                        <a:rPr lang="en-IN" sz="1800" dirty="0" err="1"/>
                        <a:t>Colominas</a:t>
                      </a:r>
                      <a:r>
                        <a:rPr lang="en-IN" sz="1800" dirty="0"/>
                        <a:t>, J. Schlotthauer, M. E. Torres</a:t>
                      </a:r>
                      <a:endParaRPr lang="en-US" sz="1800" dirty="0"/>
                    </a:p>
                  </a:txBody>
                  <a:tcPr/>
                </a:tc>
                <a:tc>
                  <a:txBody>
                    <a:bodyPr/>
                    <a:lstStyle/>
                    <a:p>
                      <a:r>
                        <a:rPr lang="en-US" sz="1800" dirty="0"/>
                        <a:t>2019</a:t>
                      </a:r>
                    </a:p>
                  </a:txBody>
                  <a:tcPr/>
                </a:tc>
                <a:tc>
                  <a:txBody>
                    <a:bodyPr/>
                    <a:lstStyle/>
                    <a:p>
                      <a:pPr marL="285750" indent="-285750">
                        <a:buFont typeface="Arial" panose="020B0604020202020204" pitchFamily="34" charset="0"/>
                        <a:buChar char="•"/>
                      </a:pPr>
                      <a:r>
                        <a:rPr lang="en-US" sz="1800" dirty="0"/>
                        <a:t>Applied ensemble machine learning methods for electrical load forecasting. </a:t>
                      </a:r>
                    </a:p>
                    <a:p>
                      <a:pPr marL="285750" indent="-285750">
                        <a:buFont typeface="Arial" panose="020B0604020202020204" pitchFamily="34" charset="0"/>
                        <a:buChar char="•"/>
                      </a:pPr>
                      <a:r>
                        <a:rPr lang="en-US" sz="1800" dirty="0"/>
                        <a:t>Demonstrated improved accuracy over single-model approaches.</a:t>
                      </a:r>
                    </a:p>
                    <a:p>
                      <a:pPr marL="285750" indent="-285750">
                        <a:buFont typeface="Arial" panose="020B0604020202020204" pitchFamily="34" charset="0"/>
                        <a:buChar char="•"/>
                      </a:pPr>
                      <a:r>
                        <a:rPr lang="en-US" sz="1800" dirty="0"/>
                        <a:t>Validated the approach using real electricity demand datasets.</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252D3-EC96-E03D-6879-692750F23322}"/>
              </a:ext>
            </a:extLst>
          </p:cNvPr>
          <p:cNvSpPr>
            <a:spLocks noGrp="1"/>
          </p:cNvSpPr>
          <p:nvPr>
            <p:ph type="title"/>
          </p:nvPr>
        </p:nvSpPr>
        <p:spPr/>
        <p:txBody>
          <a:bodyPr/>
          <a:lstStyle/>
          <a:p>
            <a:r>
              <a:rPr lang="en-US" dirty="0"/>
              <a:t>LITERATURE SURVEY(4/5)</a:t>
            </a:r>
            <a:endParaRPr lang="en-IN" dirty="0"/>
          </a:p>
        </p:txBody>
      </p:sp>
      <p:sp>
        <p:nvSpPr>
          <p:cNvPr id="3" name="Text Placeholder 2">
            <a:extLst>
              <a:ext uri="{FF2B5EF4-FFF2-40B4-BE49-F238E27FC236}">
                <a16:creationId xmlns:a16="http://schemas.microsoft.com/office/drawing/2014/main" id="{626A21B4-2A81-3E0D-C7AC-9D72E9B270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8550EE-8C9A-1EF2-79E1-9A433CE1AC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graphicFrame>
        <p:nvGraphicFramePr>
          <p:cNvPr id="8" name="Table 7">
            <a:extLst>
              <a:ext uri="{FF2B5EF4-FFF2-40B4-BE49-F238E27FC236}">
                <a16:creationId xmlns:a16="http://schemas.microsoft.com/office/drawing/2014/main" id="{3A3AF21D-C5D2-628F-C297-F71CAD82AB9A}"/>
              </a:ext>
            </a:extLst>
          </p:cNvPr>
          <p:cNvGraphicFramePr>
            <a:graphicFrameLocks noGrp="1"/>
          </p:cNvGraphicFramePr>
          <p:nvPr>
            <p:extLst>
              <p:ext uri="{D42A27DB-BD31-4B8C-83A1-F6EECF244321}">
                <p14:modId xmlns:p14="http://schemas.microsoft.com/office/powerpoint/2010/main" val="308475783"/>
              </p:ext>
            </p:extLst>
          </p:nvPr>
        </p:nvGraphicFramePr>
        <p:xfrm>
          <a:off x="430208" y="1371600"/>
          <a:ext cx="8256592" cy="4146678"/>
        </p:xfrm>
        <a:graphic>
          <a:graphicData uri="http://schemas.openxmlformats.org/drawingml/2006/table">
            <a:tbl>
              <a:tblPr firstRow="1" bandRow="1">
                <a:tableStyleId>{5C22544A-7EE6-4342-B048-85BDC9FD1C3A}</a:tableStyleId>
              </a:tblPr>
              <a:tblGrid>
                <a:gridCol w="666925">
                  <a:extLst>
                    <a:ext uri="{9D8B030D-6E8A-4147-A177-3AD203B41FA5}">
                      <a16:colId xmlns:a16="http://schemas.microsoft.com/office/drawing/2014/main" val="3063086011"/>
                    </a:ext>
                  </a:extLst>
                </a:gridCol>
                <a:gridCol w="1937857">
                  <a:extLst>
                    <a:ext uri="{9D8B030D-6E8A-4147-A177-3AD203B41FA5}">
                      <a16:colId xmlns:a16="http://schemas.microsoft.com/office/drawing/2014/main" val="1702506483"/>
                    </a:ext>
                  </a:extLst>
                </a:gridCol>
                <a:gridCol w="1602297">
                  <a:extLst>
                    <a:ext uri="{9D8B030D-6E8A-4147-A177-3AD203B41FA5}">
                      <a16:colId xmlns:a16="http://schemas.microsoft.com/office/drawing/2014/main" val="802353419"/>
                    </a:ext>
                  </a:extLst>
                </a:gridCol>
                <a:gridCol w="1023457">
                  <a:extLst>
                    <a:ext uri="{9D8B030D-6E8A-4147-A177-3AD203B41FA5}">
                      <a16:colId xmlns:a16="http://schemas.microsoft.com/office/drawing/2014/main" val="3874037641"/>
                    </a:ext>
                  </a:extLst>
                </a:gridCol>
                <a:gridCol w="3026056">
                  <a:extLst>
                    <a:ext uri="{9D8B030D-6E8A-4147-A177-3AD203B41FA5}">
                      <a16:colId xmlns:a16="http://schemas.microsoft.com/office/drawing/2014/main" val="2980225333"/>
                    </a:ext>
                  </a:extLst>
                </a:gridCol>
              </a:tblGrid>
              <a:tr h="763398">
                <a:tc>
                  <a:txBody>
                    <a:bodyPr/>
                    <a:lstStyle/>
                    <a:p>
                      <a:r>
                        <a:rPr lang="en-US" dirty="0" err="1"/>
                        <a:t>S.No</a:t>
                      </a:r>
                      <a:endParaRPr lang="en-IN" dirty="0"/>
                    </a:p>
                  </a:txBody>
                  <a:tcPr/>
                </a:tc>
                <a:tc>
                  <a:txBody>
                    <a:bodyPr/>
                    <a:lstStyle/>
                    <a:p>
                      <a:r>
                        <a:rPr lang="en-US" dirty="0"/>
                        <a:t>Project Title</a:t>
                      </a:r>
                      <a:endParaRPr lang="en-IN" dirty="0"/>
                    </a:p>
                  </a:txBody>
                  <a:tcPr/>
                </a:tc>
                <a:tc>
                  <a:txBody>
                    <a:bodyPr/>
                    <a:lstStyle/>
                    <a:p>
                      <a:r>
                        <a:rPr lang="en-US" dirty="0"/>
                        <a:t>Authors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Publisher /Year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Key Contributions</a:t>
                      </a:r>
                    </a:p>
                    <a:p>
                      <a:endParaRPr lang="en-IN" dirty="0"/>
                    </a:p>
                  </a:txBody>
                  <a:tcPr/>
                </a:tc>
                <a:extLst>
                  <a:ext uri="{0D108BD9-81ED-4DB2-BD59-A6C34878D82A}">
                    <a16:rowId xmlns:a16="http://schemas.microsoft.com/office/drawing/2014/main" val="1252844083"/>
                  </a:ext>
                </a:extLst>
              </a:tr>
              <a:tr h="3322460">
                <a:tc>
                  <a:txBody>
                    <a:bodyPr/>
                    <a:lstStyle/>
                    <a:p>
                      <a:r>
                        <a:rPr lang="en-US" sz="1800" dirty="0"/>
                        <a:t>4</a:t>
                      </a:r>
                      <a:endParaRPr lang="en-IN" sz="1800" dirty="0"/>
                    </a:p>
                  </a:txBody>
                  <a:tcPr/>
                </a:tc>
                <a:tc>
                  <a:txBody>
                    <a:bodyPr/>
                    <a:lstStyle/>
                    <a:p>
                      <a:r>
                        <a:rPr lang="en-US" sz="1800" dirty="0"/>
                        <a:t>Short-Term Residential Load Forecasting Based on LSTM Recurrent Neural Network</a:t>
                      </a:r>
                      <a:endParaRPr lang="en-IN" sz="1800" dirty="0"/>
                    </a:p>
                  </a:txBody>
                  <a:tcPr/>
                </a:tc>
                <a:tc>
                  <a:txBody>
                    <a:bodyPr/>
                    <a:lstStyle/>
                    <a:p>
                      <a:r>
                        <a:rPr lang="en-US" sz="1800" dirty="0"/>
                        <a:t>W. Kong, Z. Y. Dong, D. J. Hill, F. Luo, X. Ma</a:t>
                      </a:r>
                      <a:endParaRPr lang="en-IN" sz="1800" dirty="0"/>
                    </a:p>
                  </a:txBody>
                  <a:tcPr/>
                </a:tc>
                <a:tc>
                  <a:txBody>
                    <a:bodyPr/>
                    <a:lstStyle/>
                    <a:p>
                      <a:r>
                        <a:rPr lang="en-US" sz="1800" dirty="0"/>
                        <a:t>2019</a:t>
                      </a:r>
                      <a:endParaRPr lang="en-IN" sz="1800" dirty="0"/>
                    </a:p>
                  </a:txBody>
                  <a:tcPr/>
                </a:tc>
                <a:tc>
                  <a:txBody>
                    <a:bodyPr/>
                    <a:lstStyle/>
                    <a:p>
                      <a:pPr marL="285750" indent="-285750">
                        <a:buFont typeface="Arial" panose="020B0604020202020204" pitchFamily="34" charset="0"/>
                        <a:buChar char="•"/>
                      </a:pPr>
                      <a:r>
                        <a:rPr lang="en-US" sz="1800" dirty="0"/>
                        <a:t>Introduced LSTM networks for residential load forecasting.</a:t>
                      </a:r>
                    </a:p>
                    <a:p>
                      <a:pPr marL="285750" indent="-285750">
                        <a:buFont typeface="Arial" panose="020B0604020202020204" pitchFamily="34" charset="0"/>
                        <a:buChar char="•"/>
                      </a:pPr>
                      <a:r>
                        <a:rPr lang="en-US" sz="1800" dirty="0"/>
                        <a:t>Captured temporal dependencies in electricity usage data.</a:t>
                      </a:r>
                    </a:p>
                    <a:p>
                      <a:pPr marL="285750" indent="-285750">
                        <a:buFont typeface="Arial" panose="020B0604020202020204" pitchFamily="34" charset="0"/>
                        <a:buChar char="•"/>
                      </a:pPr>
                      <a:r>
                        <a:rPr lang="en-US" sz="1800" dirty="0"/>
                        <a:t>Achieved better performance than conventional neural networks and statistical models.</a:t>
                      </a:r>
                      <a:br>
                        <a:rPr lang="en-US" sz="1800" dirty="0"/>
                      </a:br>
                      <a:endParaRPr lang="en-IN" sz="1800" dirty="0"/>
                    </a:p>
                  </a:txBody>
                  <a:tcPr/>
                </a:tc>
                <a:extLst>
                  <a:ext uri="{0D108BD9-81ED-4DB2-BD59-A6C34878D82A}">
                    <a16:rowId xmlns:a16="http://schemas.microsoft.com/office/drawing/2014/main" val="12205715"/>
                  </a:ext>
                </a:extLst>
              </a:tr>
            </a:tbl>
          </a:graphicData>
        </a:graphic>
      </p:graphicFrame>
    </p:spTree>
    <p:extLst>
      <p:ext uri="{BB962C8B-B14F-4D97-AF65-F5344CB8AC3E}">
        <p14:creationId xmlns:p14="http://schemas.microsoft.com/office/powerpoint/2010/main" val="4131282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B3A4-F9A0-DE43-B96D-FB79D5C6B31D}"/>
              </a:ext>
            </a:extLst>
          </p:cNvPr>
          <p:cNvSpPr>
            <a:spLocks noGrp="1"/>
          </p:cNvSpPr>
          <p:nvPr>
            <p:ph type="title"/>
          </p:nvPr>
        </p:nvSpPr>
        <p:spPr>
          <a:xfrm>
            <a:off x="298941" y="254000"/>
            <a:ext cx="8229600" cy="903681"/>
          </a:xfrm>
        </p:spPr>
        <p:txBody>
          <a:bodyPr/>
          <a:lstStyle/>
          <a:p>
            <a:r>
              <a:rPr lang="en-US" dirty="0"/>
              <a:t>LITERATURE SURVEY(5/5)</a:t>
            </a:r>
            <a:endParaRPr lang="en-IN" dirty="0"/>
          </a:p>
        </p:txBody>
      </p:sp>
      <p:sp>
        <p:nvSpPr>
          <p:cNvPr id="3" name="Slide Number Placeholder 2">
            <a:extLst>
              <a:ext uri="{FF2B5EF4-FFF2-40B4-BE49-F238E27FC236}">
                <a16:creationId xmlns:a16="http://schemas.microsoft.com/office/drawing/2014/main" id="{CDE62983-2913-F790-344D-1638B2FC38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graphicFrame>
        <p:nvGraphicFramePr>
          <p:cNvPr id="4" name="Table 3">
            <a:extLst>
              <a:ext uri="{FF2B5EF4-FFF2-40B4-BE49-F238E27FC236}">
                <a16:creationId xmlns:a16="http://schemas.microsoft.com/office/drawing/2014/main" id="{B05C14A0-1008-1FF9-9BD0-CDF8ED1F6B2C}"/>
              </a:ext>
            </a:extLst>
          </p:cNvPr>
          <p:cNvGraphicFramePr>
            <a:graphicFrameLocks noGrp="1"/>
          </p:cNvGraphicFramePr>
          <p:nvPr>
            <p:extLst>
              <p:ext uri="{D42A27DB-BD31-4B8C-83A1-F6EECF244321}">
                <p14:modId xmlns:p14="http://schemas.microsoft.com/office/powerpoint/2010/main" val="1172691533"/>
              </p:ext>
            </p:extLst>
          </p:nvPr>
        </p:nvGraphicFramePr>
        <p:xfrm>
          <a:off x="457200" y="1296333"/>
          <a:ext cx="8351240" cy="4638060"/>
        </p:xfrm>
        <a:graphic>
          <a:graphicData uri="http://schemas.openxmlformats.org/drawingml/2006/table">
            <a:tbl>
              <a:tblPr firstRow="1" bandRow="1">
                <a:tableStyleId>{5C22544A-7EE6-4342-B048-85BDC9FD1C3A}</a:tableStyleId>
              </a:tblPr>
              <a:tblGrid>
                <a:gridCol w="679509">
                  <a:extLst>
                    <a:ext uri="{9D8B030D-6E8A-4147-A177-3AD203B41FA5}">
                      <a16:colId xmlns:a16="http://schemas.microsoft.com/office/drawing/2014/main" val="869371151"/>
                    </a:ext>
                  </a:extLst>
                </a:gridCol>
                <a:gridCol w="1438711">
                  <a:extLst>
                    <a:ext uri="{9D8B030D-6E8A-4147-A177-3AD203B41FA5}">
                      <a16:colId xmlns:a16="http://schemas.microsoft.com/office/drawing/2014/main" val="2666898058"/>
                    </a:ext>
                  </a:extLst>
                </a:gridCol>
                <a:gridCol w="1279322">
                  <a:extLst>
                    <a:ext uri="{9D8B030D-6E8A-4147-A177-3AD203B41FA5}">
                      <a16:colId xmlns:a16="http://schemas.microsoft.com/office/drawing/2014/main" val="1693401393"/>
                    </a:ext>
                  </a:extLst>
                </a:gridCol>
                <a:gridCol w="1069596">
                  <a:extLst>
                    <a:ext uri="{9D8B030D-6E8A-4147-A177-3AD203B41FA5}">
                      <a16:colId xmlns:a16="http://schemas.microsoft.com/office/drawing/2014/main" val="3141868262"/>
                    </a:ext>
                  </a:extLst>
                </a:gridCol>
                <a:gridCol w="3884102">
                  <a:extLst>
                    <a:ext uri="{9D8B030D-6E8A-4147-A177-3AD203B41FA5}">
                      <a16:colId xmlns:a16="http://schemas.microsoft.com/office/drawing/2014/main" val="2105040907"/>
                    </a:ext>
                  </a:extLst>
                </a:gridCol>
              </a:tblGrid>
              <a:tr h="582801">
                <a:tc>
                  <a:txBody>
                    <a:bodyPr/>
                    <a:lstStyle/>
                    <a:p>
                      <a:r>
                        <a:rPr lang="en-US" dirty="0"/>
                        <a:t>S. No</a:t>
                      </a:r>
                    </a:p>
                  </a:txBody>
                  <a:tcPr/>
                </a:tc>
                <a:tc>
                  <a:txBody>
                    <a:bodyPr/>
                    <a:lstStyle/>
                    <a:p>
                      <a:r>
                        <a:rPr lang="en-US" dirty="0"/>
                        <a:t>   Paper Title</a:t>
                      </a:r>
                    </a:p>
                  </a:txBody>
                  <a:tcPr/>
                </a:tc>
                <a:tc>
                  <a:txBody>
                    <a:bodyPr/>
                    <a:lstStyle/>
                    <a:p>
                      <a:r>
                        <a:rPr lang="en-US" dirty="0"/>
                        <a:t>    Authors</a:t>
                      </a:r>
                    </a:p>
                  </a:txBody>
                  <a:tcPr/>
                </a:tc>
                <a:tc>
                  <a:txBody>
                    <a:bodyPr/>
                    <a:lstStyle/>
                    <a:p>
                      <a:r>
                        <a:rPr lang="en-US" dirty="0"/>
                        <a:t>Publisher /Year</a:t>
                      </a:r>
                    </a:p>
                  </a:txBody>
                  <a:tcPr/>
                </a:tc>
                <a:tc>
                  <a:txBody>
                    <a:bodyPr/>
                    <a:lstStyle/>
                    <a:p>
                      <a:r>
                        <a:rPr lang="en-US" dirty="0"/>
                        <a:t>Key Contributions</a:t>
                      </a:r>
                    </a:p>
                  </a:txBody>
                  <a:tcPr/>
                </a:tc>
                <a:extLst>
                  <a:ext uri="{0D108BD9-81ED-4DB2-BD59-A6C34878D82A}">
                    <a16:rowId xmlns:a16="http://schemas.microsoft.com/office/drawing/2014/main" val="1105893532"/>
                  </a:ext>
                </a:extLst>
              </a:tr>
              <a:tr h="4055259">
                <a:tc>
                  <a:txBody>
                    <a:bodyPr/>
                    <a:lstStyle/>
                    <a:p>
                      <a:r>
                        <a:rPr lang="en-US" sz="1800" dirty="0"/>
                        <a:t>5</a:t>
                      </a:r>
                      <a:endParaRPr lang="en-IN" sz="1800" dirty="0"/>
                    </a:p>
                  </a:txBody>
                  <a:tcPr/>
                </a:tc>
                <a:tc>
                  <a:txBody>
                    <a:bodyPr/>
                    <a:lstStyle/>
                    <a:p>
                      <a:r>
                        <a:rPr lang="en-US" sz="1800" dirty="0" err="1"/>
                        <a:t>XGBoost</a:t>
                      </a:r>
                      <a:r>
                        <a:rPr lang="en-US" sz="1800" dirty="0"/>
                        <a:t>: A Scalable Tree Boosting System</a:t>
                      </a:r>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mn-lt"/>
                          <a:ea typeface="+mn-ea"/>
                          <a:cs typeface="+mn-cs"/>
                          <a:sym typeface="Arial"/>
                        </a:rPr>
                        <a:t>A. Sharma &amp; N. Patel</a:t>
                      </a:r>
                    </a:p>
                    <a:p>
                      <a:endParaRPr lang="en-IN" sz="1800" dirty="0"/>
                    </a:p>
                  </a:txBody>
                  <a:tcPr/>
                </a:tc>
                <a:tc>
                  <a:txBody>
                    <a:bodyPr/>
                    <a:lstStyle/>
                    <a:p>
                      <a:r>
                        <a:rPr lang="en-US" sz="1800" dirty="0"/>
                        <a:t>2016</a:t>
                      </a:r>
                      <a:endParaRPr lang="en-IN" sz="1800" dirty="0"/>
                    </a:p>
                  </a:txBody>
                  <a:tcPr/>
                </a:tc>
                <a:tc>
                  <a:txBody>
                    <a:bodyPr/>
                    <a:lstStyle/>
                    <a:p>
                      <a:pPr marL="285750" indent="-285750">
                        <a:buFont typeface="Arial" panose="020B0604020202020204" pitchFamily="34" charset="0"/>
                        <a:buChar char="•"/>
                      </a:pPr>
                      <a:r>
                        <a:rPr lang="en-US" sz="1800" dirty="0"/>
                        <a:t>Proposed </a:t>
                      </a:r>
                      <a:r>
                        <a:rPr lang="en-US" sz="1800" dirty="0" err="1"/>
                        <a:t>XGBoost</a:t>
                      </a:r>
                      <a:r>
                        <a:rPr lang="en-US" sz="1800" dirty="0"/>
                        <a:t>, a scalable and efficient gradient boosting framework. </a:t>
                      </a:r>
                    </a:p>
                    <a:p>
                      <a:pPr marL="285750" indent="-285750">
                        <a:buFont typeface="Arial" panose="020B0604020202020204" pitchFamily="34" charset="0"/>
                        <a:buChar char="•"/>
                      </a:pPr>
                      <a:r>
                        <a:rPr lang="en-US" sz="1800" dirty="0"/>
                        <a:t>Optimized for speed and performance on large datasets.</a:t>
                      </a:r>
                    </a:p>
                    <a:p>
                      <a:pPr marL="285750" indent="-285750">
                        <a:buFont typeface="Arial" panose="020B0604020202020204" pitchFamily="34" charset="0"/>
                        <a:buChar char="•"/>
                      </a:pPr>
                      <a:r>
                        <a:rPr lang="en-US" sz="1800" dirty="0"/>
                        <a:t>Widely adopted in energy forecasting and other regression/classification tasks.</a:t>
                      </a:r>
                      <a:endParaRPr lang="en-IN" sz="1800" dirty="0"/>
                    </a:p>
                  </a:txBody>
                  <a:tcPr/>
                </a:tc>
                <a:extLst>
                  <a:ext uri="{0D108BD9-81ED-4DB2-BD59-A6C34878D82A}">
                    <a16:rowId xmlns:a16="http://schemas.microsoft.com/office/drawing/2014/main" val="3996695238"/>
                  </a:ext>
                </a:extLst>
              </a:tr>
            </a:tbl>
          </a:graphicData>
        </a:graphic>
      </p:graphicFrame>
    </p:spTree>
    <p:extLst>
      <p:ext uri="{BB962C8B-B14F-4D97-AF65-F5344CB8AC3E}">
        <p14:creationId xmlns:p14="http://schemas.microsoft.com/office/powerpoint/2010/main" val="274069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dirty="0"/>
              <a:t>INFERENCES FROM LITERATURE SURVEY</a:t>
            </a:r>
            <a:endParaRPr dirty="0"/>
          </a:p>
        </p:txBody>
      </p:sp>
      <p:sp>
        <p:nvSpPr>
          <p:cNvPr id="155" name="Google Shape;155;p20"/>
          <p:cNvSpPr txBox="1">
            <a:spLocks noGrp="1"/>
          </p:cNvSpPr>
          <p:nvPr>
            <p:ph type="body" idx="1"/>
          </p:nvPr>
        </p:nvSpPr>
        <p:spPr>
          <a:xfrm>
            <a:off x="457200" y="1442906"/>
            <a:ext cx="8229600" cy="4805494"/>
          </a:xfrm>
          <a:prstGeom prst="rect">
            <a:avLst/>
          </a:prstGeom>
          <a:noFill/>
          <a:ln>
            <a:noFill/>
          </a:ln>
        </p:spPr>
        <p:txBody>
          <a:bodyPr spcFirstLastPara="1" wrap="square" lIns="91425" tIns="45700" rIns="91425" bIns="45700" anchor="t" anchorCtr="0">
            <a:noAutofit/>
          </a:bodyPr>
          <a:lstStyle/>
          <a:p>
            <a:r>
              <a:rPr lang="en-US" sz="2400" dirty="0"/>
              <a:t>XGBoost is highly effective</a:t>
            </a:r>
          </a:p>
          <a:p>
            <a:r>
              <a:rPr lang="en-US" sz="2400" dirty="0"/>
              <a:t>Environmental and temporal features Gradient Boosting models </a:t>
            </a:r>
          </a:p>
          <a:p>
            <a:r>
              <a:rPr lang="en-US" sz="2400" dirty="0"/>
              <a:t>Time-series forecasting </a:t>
            </a:r>
          </a:p>
          <a:p>
            <a:r>
              <a:rPr lang="en-US" sz="2400" dirty="0"/>
              <a:t>Ensemble learning methods</a:t>
            </a:r>
            <a:endParaRPr dirty="0"/>
          </a:p>
        </p:txBody>
      </p:sp>
      <p:sp>
        <p:nvSpPr>
          <p:cNvPr id="156" name="Google Shape;156;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57" name="Google Shape;15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58" name="Google Shape;158;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3"/>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latin typeface="Calibri" panose="020F0502020204030204" pitchFamily="34" charset="0"/>
                <a:ea typeface="Calibri" panose="020F0502020204030204" pitchFamily="34" charset="0"/>
                <a:cs typeface="Calibri" panose="020F0502020204030204" pitchFamily="34" charset="0"/>
              </a:rPr>
              <a:t>PROPOSED SYSTEM(1/2)</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81" name="Google Shape;18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400"/>
              <a:buNone/>
            </a:pPr>
            <a:r>
              <a:rPr lang="en-US" sz="2400" b="1" dirty="0">
                <a:latin typeface="Arial"/>
                <a:ea typeface="Arial"/>
                <a:cs typeface="Arial"/>
                <a:sym typeface="Arial"/>
              </a:rPr>
              <a:t>System Architecture</a:t>
            </a:r>
            <a:endParaRPr sz="2400" b="1" dirty="0">
              <a:latin typeface="Arial"/>
              <a:ea typeface="Arial"/>
              <a:cs typeface="Arial"/>
              <a:sym typeface="Arial"/>
            </a:endParaRPr>
          </a:p>
          <a:p>
            <a:pPr marL="0" lvl="0" indent="0" algn="ctr" rtl="0">
              <a:spcBef>
                <a:spcPts val="0"/>
              </a:spcBef>
              <a:spcAft>
                <a:spcPts val="0"/>
              </a:spcAft>
              <a:buClr>
                <a:schemeClr val="dk1"/>
              </a:buClr>
              <a:buSzPts val="2400"/>
              <a:buNone/>
            </a:pPr>
            <a:endParaRPr sz="2400" b="1" dirty="0">
              <a:latin typeface="Arial"/>
              <a:ea typeface="Arial"/>
              <a:cs typeface="Arial"/>
              <a:sym typeface="Arial"/>
            </a:endParaRPr>
          </a:p>
        </p:txBody>
      </p:sp>
      <p:sp>
        <p:nvSpPr>
          <p:cNvPr id="182" name="Google Shape;18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83" name="Google Shape;18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84" name="Google Shape;18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11</a:t>
            </a:fld>
            <a:endParaRPr/>
          </a:p>
        </p:txBody>
      </p:sp>
      <p:pic>
        <p:nvPicPr>
          <p:cNvPr id="1026" name="Picture 2">
            <a:extLst>
              <a:ext uri="{FF2B5EF4-FFF2-40B4-BE49-F238E27FC236}">
                <a16:creationId xmlns:a16="http://schemas.microsoft.com/office/drawing/2014/main" id="{D4A9460C-707B-B37F-A33F-BCC3E75497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371600"/>
            <a:ext cx="4572000" cy="50872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634499" y="730975"/>
            <a:ext cx="8229600" cy="82757"/>
          </a:xfrm>
          <a:prstGeom prst="rect">
            <a:avLst/>
          </a:prstGeom>
        </p:spPr>
        <p:txBody>
          <a:bodyPr spcFirstLastPara="1" wrap="square" lIns="91425" tIns="45700" rIns="91425" bIns="45700" anchor="ctr" anchorCtr="0">
            <a:noAutofit/>
          </a:bodyPr>
          <a:lstStyle/>
          <a:p>
            <a:pPr lvl="0">
              <a:spcBef>
                <a:spcPts val="360"/>
              </a:spcBef>
              <a:buSzPts val="1100"/>
            </a:pPr>
            <a:r>
              <a:rPr lang="en-US" dirty="0">
                <a:latin typeface="Calibri" panose="020F0502020204030204" pitchFamily="34" charset="0"/>
                <a:ea typeface="Calibri" panose="020F0502020204030204" pitchFamily="34" charset="0"/>
                <a:cs typeface="Calibri" panose="020F0502020204030204" pitchFamily="34" charset="0"/>
              </a:rPr>
              <a:t>PROPOSED SYSTEM(2/2)</a:t>
            </a:r>
            <a:endParaRPr dirty="0"/>
          </a:p>
        </p:txBody>
      </p:sp>
      <p:sp>
        <p:nvSpPr>
          <p:cNvPr id="174" name="Google Shape;174;p22"/>
          <p:cNvSpPr txBox="1">
            <a:spLocks noGrp="1"/>
          </p:cNvSpPr>
          <p:nvPr>
            <p:ph type="body" idx="1"/>
          </p:nvPr>
        </p:nvSpPr>
        <p:spPr>
          <a:xfrm>
            <a:off x="457200" y="1568741"/>
            <a:ext cx="8229600" cy="4558284"/>
          </a:xfrm>
          <a:prstGeom prst="rect">
            <a:avLst/>
          </a:prstGeom>
        </p:spPr>
        <p:txBody>
          <a:bodyPr spcFirstLastPara="1" wrap="square" lIns="91425" tIns="45700" rIns="91425" bIns="45700" anchor="t" anchorCtr="0">
            <a:normAutofit fontScale="62500" lnSpcReduction="20000"/>
          </a:bodyPr>
          <a:lstStyle/>
          <a:p>
            <a:pPr marL="114300" indent="0">
              <a:buNone/>
            </a:pPr>
            <a:r>
              <a:rPr lang="en-US" b="1" dirty="0"/>
              <a:t>Advantages of Proposed System :</a:t>
            </a:r>
          </a:p>
          <a:p>
            <a:endParaRPr lang="en-US" b="1" dirty="0"/>
          </a:p>
          <a:p>
            <a:r>
              <a:rPr lang="en-US" b="1" dirty="0"/>
              <a:t>High Accuracy</a:t>
            </a:r>
            <a:endParaRPr lang="en-US" dirty="0"/>
          </a:p>
          <a:p>
            <a:pPr lvl="1"/>
            <a:r>
              <a:rPr lang="en-US" dirty="0"/>
              <a:t>XGBoost handles complex patterns and delivers precise predictions.</a:t>
            </a:r>
          </a:p>
          <a:p>
            <a:r>
              <a:rPr lang="en-US" b="1" dirty="0"/>
              <a:t>Fast &amp; Scalable</a:t>
            </a:r>
            <a:endParaRPr lang="en-US" dirty="0"/>
          </a:p>
          <a:p>
            <a:pPr lvl="1"/>
            <a:r>
              <a:rPr lang="en-US" dirty="0"/>
              <a:t>Efficient for large datasets and real-time applications.</a:t>
            </a:r>
          </a:p>
          <a:p>
            <a:r>
              <a:rPr lang="en-US" b="1" dirty="0"/>
              <a:t>Handles Missing Data</a:t>
            </a:r>
            <a:endParaRPr lang="en-US" dirty="0"/>
          </a:p>
          <a:p>
            <a:pPr lvl="1"/>
            <a:r>
              <a:rPr lang="en-US" dirty="0"/>
              <a:t>Robust even when some inputs are incomplete or noisy.</a:t>
            </a:r>
          </a:p>
          <a:p>
            <a:r>
              <a:rPr lang="en-US" b="1" dirty="0"/>
              <a:t>Feature Importance Insight</a:t>
            </a:r>
            <a:endParaRPr lang="en-US" dirty="0"/>
          </a:p>
          <a:p>
            <a:pPr lvl="1"/>
            <a:r>
              <a:rPr lang="en-US" dirty="0"/>
              <a:t>Identifies which factors (like temperature or pressure) influence energy usage the most.</a:t>
            </a:r>
          </a:p>
          <a:p>
            <a:r>
              <a:rPr lang="en-US" b="1" dirty="0"/>
              <a:t>Improved Resource Management</a:t>
            </a:r>
            <a:endParaRPr lang="en-US" dirty="0"/>
          </a:p>
          <a:p>
            <a:pPr lvl="1"/>
            <a:r>
              <a:rPr lang="en-US" dirty="0"/>
              <a:t>Helps in better planning and reduces energy wastage.</a:t>
            </a:r>
          </a:p>
          <a:p>
            <a:r>
              <a:rPr lang="en-US" b="1" dirty="0"/>
              <a:t>Supports Smart Grid Systems</a:t>
            </a:r>
            <a:endParaRPr lang="en-US" dirty="0"/>
          </a:p>
          <a:p>
            <a:pPr lvl="1"/>
            <a:r>
              <a:rPr lang="en-US" dirty="0"/>
              <a:t>Enables data-driven decision-making for utilities and policymakers.</a:t>
            </a:r>
          </a:p>
          <a:p>
            <a:pPr marL="0" lvl="0" indent="0" algn="l" rtl="0">
              <a:spcBef>
                <a:spcPts val="1200"/>
              </a:spcBef>
              <a:spcAft>
                <a:spcPts val="0"/>
              </a:spcAft>
              <a:buNone/>
            </a:pPr>
            <a:endParaRPr sz="4200" dirty="0"/>
          </a:p>
        </p:txBody>
      </p:sp>
      <p:sp>
        <p:nvSpPr>
          <p:cNvPr id="175" name="Google Shape;175;p22"/>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05CF3-CFD5-D8C2-0C8D-9DD1202A94DD}"/>
              </a:ext>
            </a:extLst>
          </p:cNvPr>
          <p:cNvSpPr>
            <a:spLocks noGrp="1"/>
          </p:cNvSpPr>
          <p:nvPr>
            <p:ph type="title"/>
          </p:nvPr>
        </p:nvSpPr>
        <p:spPr/>
        <p:txBody>
          <a:bodyPr/>
          <a:lstStyle/>
          <a:p>
            <a:r>
              <a:rPr lang="en-US" dirty="0"/>
              <a:t>MODULES(1/2)</a:t>
            </a:r>
            <a:endParaRPr lang="en-IN" dirty="0"/>
          </a:p>
        </p:txBody>
      </p:sp>
      <p:sp>
        <p:nvSpPr>
          <p:cNvPr id="3" name="Slide Number Placeholder 2">
            <a:extLst>
              <a:ext uri="{FF2B5EF4-FFF2-40B4-BE49-F238E27FC236}">
                <a16:creationId xmlns:a16="http://schemas.microsoft.com/office/drawing/2014/main" id="{E3001BFA-7029-3E5C-A22E-8EA128595A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
        <p:nvSpPr>
          <p:cNvPr id="5" name="TextBox 4">
            <a:extLst>
              <a:ext uri="{FF2B5EF4-FFF2-40B4-BE49-F238E27FC236}">
                <a16:creationId xmlns:a16="http://schemas.microsoft.com/office/drawing/2014/main" id="{A5B08912-F875-DA74-27DE-8E3890A82DC6}"/>
              </a:ext>
            </a:extLst>
          </p:cNvPr>
          <p:cNvSpPr txBox="1"/>
          <p:nvPr/>
        </p:nvSpPr>
        <p:spPr>
          <a:xfrm>
            <a:off x="578839" y="1535185"/>
            <a:ext cx="7675927" cy="5109091"/>
          </a:xfrm>
          <a:prstGeom prst="rect">
            <a:avLst/>
          </a:prstGeom>
          <a:noFill/>
        </p:spPr>
        <p:txBody>
          <a:bodyPr wrap="square">
            <a:spAutoFit/>
          </a:bodyPr>
          <a:lstStyle/>
          <a:p>
            <a:r>
              <a:rPr lang="en-IN" sz="2200" b="1" dirty="0">
                <a:latin typeface="Calibri" panose="020F0502020204030204" pitchFamily="34" charset="0"/>
                <a:ea typeface="Calibri" panose="020F0502020204030204" pitchFamily="34" charset="0"/>
                <a:cs typeface="Calibri" panose="020F0502020204030204" pitchFamily="34" charset="0"/>
              </a:rPr>
              <a:t>1. Data Handling &amp; Computation</a:t>
            </a:r>
          </a:p>
          <a:p>
            <a:r>
              <a:rPr lang="en-IN" sz="2000" dirty="0">
                <a:latin typeface="Calibri" panose="020F0502020204030204" pitchFamily="34" charset="0"/>
                <a:ea typeface="Calibri" panose="020F0502020204030204" pitchFamily="34" charset="0"/>
                <a:cs typeface="Calibri" panose="020F0502020204030204" pitchFamily="34" charset="0"/>
              </a:rPr>
              <a:t>pandas → import pandas as pd</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loading the CSV, manipulating </a:t>
            </a:r>
            <a:r>
              <a:rPr lang="en-IN" sz="2000" dirty="0" err="1">
                <a:latin typeface="Calibri" panose="020F0502020204030204" pitchFamily="34" charset="0"/>
                <a:ea typeface="Calibri" panose="020F0502020204030204" pitchFamily="34" charset="0"/>
                <a:cs typeface="Calibri" panose="020F0502020204030204" pitchFamily="34" charset="0"/>
              </a:rPr>
              <a:t>dataframes</a:t>
            </a:r>
            <a:r>
              <a:rPr lang="en-IN" sz="2000" dirty="0">
                <a:latin typeface="Calibri" panose="020F0502020204030204" pitchFamily="34" charset="0"/>
                <a:ea typeface="Calibri" panose="020F0502020204030204" pitchFamily="34" charset="0"/>
                <a:cs typeface="Calibri" panose="020F0502020204030204" pitchFamily="34" charset="0"/>
              </a:rPr>
              <a:t>, creating new features, and preprocessing.</a:t>
            </a:r>
          </a:p>
          <a:p>
            <a:r>
              <a:rPr lang="en-IN" sz="2000" dirty="0" err="1">
                <a:latin typeface="Calibri" panose="020F0502020204030204" pitchFamily="34" charset="0"/>
                <a:ea typeface="Calibri" panose="020F0502020204030204" pitchFamily="34" charset="0"/>
                <a:cs typeface="Calibri" panose="020F0502020204030204" pitchFamily="34" charset="0"/>
              </a:rPr>
              <a:t>numpy</a:t>
            </a:r>
            <a:r>
              <a:rPr lang="en-IN" sz="2000" dirty="0">
                <a:latin typeface="Calibri" panose="020F0502020204030204" pitchFamily="34" charset="0"/>
                <a:ea typeface="Calibri" panose="020F0502020204030204" pitchFamily="34" charset="0"/>
                <a:cs typeface="Calibri" panose="020F0502020204030204" pitchFamily="34" charset="0"/>
              </a:rPr>
              <a:t> → import </a:t>
            </a:r>
            <a:r>
              <a:rPr lang="en-IN" sz="2000" dirty="0" err="1">
                <a:latin typeface="Calibri" panose="020F0502020204030204" pitchFamily="34" charset="0"/>
                <a:ea typeface="Calibri" panose="020F0502020204030204" pitchFamily="34" charset="0"/>
                <a:cs typeface="Calibri" panose="020F0502020204030204" pitchFamily="34" charset="0"/>
              </a:rPr>
              <a:t>numpy</a:t>
            </a:r>
            <a:r>
              <a:rPr lang="en-IN" sz="2000" dirty="0">
                <a:latin typeface="Calibri" panose="020F0502020204030204" pitchFamily="34" charset="0"/>
                <a:ea typeface="Calibri" panose="020F0502020204030204" pitchFamily="34" charset="0"/>
                <a:cs typeface="Calibri" panose="020F0502020204030204" pitchFamily="34" charset="0"/>
              </a:rPr>
              <a:t> as np</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numerical operations such as log transformation, scaling, and computing RMSE.</a:t>
            </a:r>
          </a:p>
          <a:p>
            <a:pPr>
              <a:buNone/>
            </a:pPr>
            <a:endParaRPr lang="en-IN" sz="2200" b="1" dirty="0"/>
          </a:p>
          <a:p>
            <a:pPr>
              <a:buNone/>
            </a:pPr>
            <a:r>
              <a:rPr lang="en-IN" sz="2200" b="1" dirty="0"/>
              <a:t>2. Machine Learning</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sklearn.model_selection</a:t>
            </a:r>
            <a:r>
              <a:rPr lang="en-IN" sz="2000" dirty="0">
                <a:latin typeface="Calibri" panose="020F0502020204030204" pitchFamily="34" charset="0"/>
                <a:ea typeface="Calibri" panose="020F0502020204030204" pitchFamily="34" charset="0"/>
                <a:cs typeface="Calibri" panose="020F0502020204030204" pitchFamily="34" charset="0"/>
              </a:rPr>
              <a:t> → </a:t>
            </a:r>
            <a:r>
              <a:rPr lang="en-IN" sz="2000" dirty="0" err="1">
                <a:latin typeface="Calibri" panose="020F0502020204030204" pitchFamily="34" charset="0"/>
                <a:ea typeface="Calibri" panose="020F0502020204030204" pitchFamily="34" charset="0"/>
                <a:cs typeface="Calibri" panose="020F0502020204030204" pitchFamily="34" charset="0"/>
              </a:rPr>
              <a:t>train_test_split</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to split the dataset into training and testing sets.</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sklearn.metrics</a:t>
            </a:r>
            <a:r>
              <a:rPr lang="en-IN" sz="2000" dirty="0">
                <a:latin typeface="Calibri" panose="020F0502020204030204" pitchFamily="34" charset="0"/>
                <a:ea typeface="Calibri" panose="020F0502020204030204" pitchFamily="34" charset="0"/>
                <a:cs typeface="Calibri" panose="020F0502020204030204" pitchFamily="34" charset="0"/>
              </a:rPr>
              <a:t> → </a:t>
            </a:r>
            <a:r>
              <a:rPr lang="en-IN" sz="2000" dirty="0" err="1">
                <a:latin typeface="Calibri" panose="020F0502020204030204" pitchFamily="34" charset="0"/>
                <a:ea typeface="Calibri" panose="020F0502020204030204" pitchFamily="34" charset="0"/>
                <a:cs typeface="Calibri" panose="020F0502020204030204" pitchFamily="34" charset="0"/>
              </a:rPr>
              <a:t>mean_absolute_error</a:t>
            </a:r>
            <a:r>
              <a:rPr lang="en-IN" sz="2000" dirty="0">
                <a:latin typeface="Calibri" panose="020F0502020204030204" pitchFamily="34" charset="0"/>
                <a:ea typeface="Calibri" panose="020F0502020204030204" pitchFamily="34" charset="0"/>
                <a:cs typeface="Calibri" panose="020F0502020204030204" pitchFamily="34" charset="0"/>
              </a:rPr>
              <a:t>, </a:t>
            </a:r>
            <a:r>
              <a:rPr lang="en-IN" sz="2000" dirty="0" err="1">
                <a:latin typeface="Calibri" panose="020F0502020204030204" pitchFamily="34" charset="0"/>
                <a:ea typeface="Calibri" panose="020F0502020204030204" pitchFamily="34" charset="0"/>
                <a:cs typeface="Calibri" panose="020F0502020204030204" pitchFamily="34" charset="0"/>
              </a:rPr>
              <a:t>mean_squared_error</a:t>
            </a:r>
            <a:r>
              <a:rPr lang="en-IN" sz="2000" dirty="0">
                <a:latin typeface="Calibri" panose="020F0502020204030204" pitchFamily="34" charset="0"/>
                <a:ea typeface="Calibri" panose="020F0502020204030204" pitchFamily="34" charset="0"/>
                <a:cs typeface="Calibri" panose="020F0502020204030204" pitchFamily="34" charset="0"/>
              </a:rPr>
              <a:t>, r2_score</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evaluating the regression model performance.</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xgboost</a:t>
            </a:r>
            <a:r>
              <a:rPr lang="en-IN" sz="2000" dirty="0">
                <a:latin typeface="Calibri" panose="020F0502020204030204" pitchFamily="34" charset="0"/>
                <a:ea typeface="Calibri" panose="020F0502020204030204" pitchFamily="34" charset="0"/>
                <a:cs typeface="Calibri" panose="020F0502020204030204" pitchFamily="34" charset="0"/>
              </a:rPr>
              <a:t> → import </a:t>
            </a:r>
            <a:r>
              <a:rPr lang="en-IN" sz="2000" dirty="0" err="1">
                <a:latin typeface="Calibri" panose="020F0502020204030204" pitchFamily="34" charset="0"/>
                <a:ea typeface="Calibri" panose="020F0502020204030204" pitchFamily="34" charset="0"/>
                <a:cs typeface="Calibri" panose="020F0502020204030204" pitchFamily="34" charset="0"/>
              </a:rPr>
              <a:t>xgboost</a:t>
            </a:r>
            <a:r>
              <a:rPr lang="en-IN" sz="2000" dirty="0">
                <a:latin typeface="Calibri" panose="020F0502020204030204" pitchFamily="34" charset="0"/>
                <a:ea typeface="Calibri" panose="020F0502020204030204" pitchFamily="34" charset="0"/>
                <a:cs typeface="Calibri" panose="020F0502020204030204" pitchFamily="34" charset="0"/>
              </a:rPr>
              <a:t> as </a:t>
            </a:r>
            <a:r>
              <a:rPr lang="en-IN" sz="2000" dirty="0" err="1">
                <a:latin typeface="Calibri" panose="020F0502020204030204" pitchFamily="34" charset="0"/>
                <a:ea typeface="Calibri" panose="020F0502020204030204" pitchFamily="34" charset="0"/>
                <a:cs typeface="Calibri" panose="020F0502020204030204" pitchFamily="34" charset="0"/>
              </a:rPr>
              <a:t>xgb</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building and training the </a:t>
            </a:r>
            <a:r>
              <a:rPr lang="en-IN" sz="2000" dirty="0" err="1">
                <a:latin typeface="Calibri" panose="020F0502020204030204" pitchFamily="34" charset="0"/>
                <a:ea typeface="Calibri" panose="020F0502020204030204" pitchFamily="34" charset="0"/>
                <a:cs typeface="Calibri" panose="020F0502020204030204" pitchFamily="34" charset="0"/>
              </a:rPr>
              <a:t>XGBoost</a:t>
            </a:r>
            <a:r>
              <a:rPr lang="en-IN" sz="2000" dirty="0">
                <a:latin typeface="Calibri" panose="020F0502020204030204" pitchFamily="34" charset="0"/>
                <a:ea typeface="Calibri" panose="020F0502020204030204" pitchFamily="34" charset="0"/>
                <a:cs typeface="Calibri" panose="020F0502020204030204" pitchFamily="34" charset="0"/>
              </a:rPr>
              <a:t> regression model.</a:t>
            </a:r>
          </a:p>
        </p:txBody>
      </p:sp>
    </p:spTree>
    <p:extLst>
      <p:ext uri="{BB962C8B-B14F-4D97-AF65-F5344CB8AC3E}">
        <p14:creationId xmlns:p14="http://schemas.microsoft.com/office/powerpoint/2010/main" val="2435659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F4277-FF6D-21BD-3E05-F0C06C6CFAC0}"/>
              </a:ext>
            </a:extLst>
          </p:cNvPr>
          <p:cNvSpPr>
            <a:spLocks noGrp="1"/>
          </p:cNvSpPr>
          <p:nvPr>
            <p:ph type="title"/>
          </p:nvPr>
        </p:nvSpPr>
        <p:spPr/>
        <p:txBody>
          <a:bodyPr/>
          <a:lstStyle/>
          <a:p>
            <a:r>
              <a:rPr lang="en-US" dirty="0"/>
              <a:t>MODULES(2/2)</a:t>
            </a:r>
            <a:endParaRPr lang="en-IN" dirty="0"/>
          </a:p>
        </p:txBody>
      </p:sp>
      <p:sp>
        <p:nvSpPr>
          <p:cNvPr id="3" name="Slide Number Placeholder 2">
            <a:extLst>
              <a:ext uri="{FF2B5EF4-FFF2-40B4-BE49-F238E27FC236}">
                <a16:creationId xmlns:a16="http://schemas.microsoft.com/office/drawing/2014/main" id="{4644F538-933B-23FD-1FC5-DF3F15AC45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5" name="TextBox 4">
            <a:extLst>
              <a:ext uri="{FF2B5EF4-FFF2-40B4-BE49-F238E27FC236}">
                <a16:creationId xmlns:a16="http://schemas.microsoft.com/office/drawing/2014/main" id="{FB620638-7A12-0CBD-1B67-453A2F26F41E}"/>
              </a:ext>
            </a:extLst>
          </p:cNvPr>
          <p:cNvSpPr txBox="1"/>
          <p:nvPr/>
        </p:nvSpPr>
        <p:spPr>
          <a:xfrm>
            <a:off x="409528" y="1418382"/>
            <a:ext cx="8414157" cy="1661993"/>
          </a:xfrm>
          <a:prstGeom prst="rect">
            <a:avLst/>
          </a:prstGeom>
          <a:noFill/>
        </p:spPr>
        <p:txBody>
          <a:bodyPr wrap="square">
            <a:spAutoFit/>
          </a:bodyPr>
          <a:lstStyle/>
          <a:p>
            <a:pPr>
              <a:buNone/>
            </a:pPr>
            <a:r>
              <a:rPr lang="en-IN" sz="2200" b="1" dirty="0">
                <a:latin typeface="Calibri" panose="020F0502020204030204" pitchFamily="34" charset="0"/>
                <a:ea typeface="Calibri" panose="020F0502020204030204" pitchFamily="34" charset="0"/>
                <a:cs typeface="Calibri" panose="020F0502020204030204" pitchFamily="34" charset="0"/>
              </a:rPr>
              <a:t>3. Data Visualization</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matplotlib.pyplot</a:t>
            </a:r>
            <a:r>
              <a:rPr lang="en-IN" sz="2000" dirty="0">
                <a:latin typeface="Calibri" panose="020F0502020204030204" pitchFamily="34" charset="0"/>
                <a:ea typeface="Calibri" panose="020F0502020204030204" pitchFamily="34" charset="0"/>
                <a:cs typeface="Calibri" panose="020F0502020204030204" pitchFamily="34" charset="0"/>
              </a:rPr>
              <a:t> → import </a:t>
            </a:r>
            <a:r>
              <a:rPr lang="en-IN" sz="2000" dirty="0" err="1">
                <a:latin typeface="Calibri" panose="020F0502020204030204" pitchFamily="34" charset="0"/>
                <a:ea typeface="Calibri" panose="020F0502020204030204" pitchFamily="34" charset="0"/>
                <a:cs typeface="Calibri" panose="020F0502020204030204" pitchFamily="34" charset="0"/>
              </a:rPr>
              <a:t>matplotlib.pyplot</a:t>
            </a:r>
            <a:r>
              <a:rPr lang="en-IN" sz="2000" dirty="0">
                <a:latin typeface="Calibri" panose="020F0502020204030204" pitchFamily="34" charset="0"/>
                <a:ea typeface="Calibri" panose="020F0502020204030204" pitchFamily="34" charset="0"/>
                <a:cs typeface="Calibri" panose="020F0502020204030204" pitchFamily="34" charset="0"/>
              </a:rPr>
              <a:t> as </a:t>
            </a:r>
            <a:r>
              <a:rPr lang="en-IN" sz="2000" dirty="0" err="1">
                <a:latin typeface="Calibri" panose="020F0502020204030204" pitchFamily="34" charset="0"/>
                <a:ea typeface="Calibri" panose="020F0502020204030204" pitchFamily="34" charset="0"/>
                <a:cs typeface="Calibri" panose="020F0502020204030204" pitchFamily="34" charset="0"/>
              </a:rPr>
              <a:t>plt</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plotting graphs, histograms, and scatter plots.</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seaborn → import seaborn as </a:t>
            </a:r>
            <a:r>
              <a:rPr lang="en-IN" sz="2000" dirty="0" err="1">
                <a:latin typeface="Calibri" panose="020F0502020204030204" pitchFamily="34" charset="0"/>
                <a:ea typeface="Calibri" panose="020F0502020204030204" pitchFamily="34" charset="0"/>
                <a:cs typeface="Calibri" panose="020F0502020204030204" pitchFamily="34" charset="0"/>
              </a:rPr>
              <a:t>sns</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statistical visualizations like histograms, heatmaps, and line plots.</a:t>
            </a:r>
          </a:p>
        </p:txBody>
      </p:sp>
      <p:sp>
        <p:nvSpPr>
          <p:cNvPr id="7" name="TextBox 6">
            <a:extLst>
              <a:ext uri="{FF2B5EF4-FFF2-40B4-BE49-F238E27FC236}">
                <a16:creationId xmlns:a16="http://schemas.microsoft.com/office/drawing/2014/main" id="{B4A3128B-5B27-C14D-CB62-969901B501F1}"/>
              </a:ext>
            </a:extLst>
          </p:cNvPr>
          <p:cNvSpPr txBox="1"/>
          <p:nvPr/>
        </p:nvSpPr>
        <p:spPr>
          <a:xfrm>
            <a:off x="409528" y="3080375"/>
            <a:ext cx="8008423" cy="1046440"/>
          </a:xfrm>
          <a:prstGeom prst="rect">
            <a:avLst/>
          </a:prstGeom>
          <a:noFill/>
        </p:spPr>
        <p:txBody>
          <a:bodyPr wrap="square">
            <a:spAutoFit/>
          </a:bodyPr>
          <a:lstStyle/>
          <a:p>
            <a:pPr>
              <a:buNone/>
            </a:pPr>
            <a:r>
              <a:rPr lang="en-IN" sz="2200" b="1" dirty="0">
                <a:latin typeface="Calibri" panose="020F0502020204030204" pitchFamily="34" charset="0"/>
                <a:ea typeface="Calibri" panose="020F0502020204030204" pitchFamily="34" charset="0"/>
                <a:cs typeface="Calibri" panose="020F0502020204030204" pitchFamily="34" charset="0"/>
              </a:rPr>
              <a:t>4. Miscellaneous / Settings</a:t>
            </a:r>
            <a:endParaRPr lang="en-IN" sz="2000" b="1"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sns.set</a:t>
            </a:r>
            <a:r>
              <a:rPr lang="en-IN" sz="2000" dirty="0">
                <a:latin typeface="Calibri" panose="020F0502020204030204" pitchFamily="34" charset="0"/>
                <a:ea typeface="Calibri" panose="020F0502020204030204" pitchFamily="34" charset="0"/>
                <a:cs typeface="Calibri" panose="020F0502020204030204" pitchFamily="34" charset="0"/>
              </a:rPr>
              <a:t>(style="</a:t>
            </a:r>
            <a:r>
              <a:rPr lang="en-IN" sz="2000" dirty="0" err="1">
                <a:latin typeface="Calibri" panose="020F0502020204030204" pitchFamily="34" charset="0"/>
                <a:ea typeface="Calibri" panose="020F0502020204030204" pitchFamily="34" charset="0"/>
                <a:cs typeface="Calibri" panose="020F0502020204030204" pitchFamily="34" charset="0"/>
              </a:rPr>
              <a:t>whitegrid</a:t>
            </a:r>
            <a:r>
              <a:rPr lang="en-IN" sz="2000" dirty="0">
                <a:latin typeface="Calibri" panose="020F0502020204030204" pitchFamily="34" charset="0"/>
                <a:ea typeface="Calibri" panose="020F0502020204030204" pitchFamily="34" charset="0"/>
                <a:cs typeface="Calibri" panose="020F0502020204030204" pitchFamily="34" charset="0"/>
              </a:rPr>
              <a:t>"</a:t>
            </a:r>
            <a:r>
              <a:rPr lang="en-IN" sz="2000" dirty="0">
                <a:latin typeface="Courier New" panose="02070309020205020404" pitchFamily="49" charset="0"/>
              </a:rPr>
              <a:t>)</a:t>
            </a:r>
            <a:br>
              <a:rPr lang="en-IN" sz="2000" dirty="0"/>
            </a:br>
            <a:r>
              <a:rPr lang="en-IN" sz="2000" dirty="0">
                <a:latin typeface="Calibri" panose="020F0502020204030204" pitchFamily="34" charset="0"/>
                <a:ea typeface="Calibri" panose="020F0502020204030204" pitchFamily="34" charset="0"/>
                <a:cs typeface="Calibri" panose="020F0502020204030204" pitchFamily="34" charset="0"/>
              </a:rPr>
              <a:t>Sets the Seaborn plot style for better aesthetics.</a:t>
            </a:r>
          </a:p>
        </p:txBody>
      </p:sp>
      <p:sp>
        <p:nvSpPr>
          <p:cNvPr id="9" name="TextBox 8">
            <a:extLst>
              <a:ext uri="{FF2B5EF4-FFF2-40B4-BE49-F238E27FC236}">
                <a16:creationId xmlns:a16="http://schemas.microsoft.com/office/drawing/2014/main" id="{A78593AB-BFDB-47D2-96CC-8F5C8ECC9AEF}"/>
              </a:ext>
            </a:extLst>
          </p:cNvPr>
          <p:cNvSpPr txBox="1"/>
          <p:nvPr/>
        </p:nvSpPr>
        <p:spPr>
          <a:xfrm>
            <a:off x="409528" y="4146956"/>
            <a:ext cx="6290211" cy="2585323"/>
          </a:xfrm>
          <a:prstGeom prst="rect">
            <a:avLst/>
          </a:prstGeom>
          <a:noFill/>
        </p:spPr>
        <p:txBody>
          <a:bodyPr wrap="square">
            <a:spAutoFit/>
          </a:bodyPr>
          <a:lstStyle/>
          <a:p>
            <a:pPr>
              <a:buNone/>
            </a:pPr>
            <a:r>
              <a:rPr lang="en-IN" sz="2200" b="1" dirty="0">
                <a:latin typeface="Calibri" panose="020F0502020204030204" pitchFamily="34" charset="0"/>
                <a:ea typeface="Calibri" panose="020F0502020204030204" pitchFamily="34" charset="0"/>
                <a:cs typeface="Calibri" panose="020F0502020204030204" pitchFamily="34" charset="0"/>
              </a:rPr>
              <a:t>5.Modules Imported</a:t>
            </a:r>
            <a:endParaRPr lang="en-IN" sz="22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a:latin typeface="Calibri" panose="020F0502020204030204" pitchFamily="34" charset="0"/>
                <a:ea typeface="Calibri" panose="020F0502020204030204" pitchFamily="34" charset="0"/>
                <a:cs typeface="Calibri" panose="020F0502020204030204" pitchFamily="34" charset="0"/>
              </a:rPr>
              <a:t>pandas</a:t>
            </a: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numpy</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sklearn.model_selection</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sklearn.metrics</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xgboost</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matplotlib.pyplot</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a:latin typeface="Calibri" panose="020F0502020204030204" pitchFamily="34" charset="0"/>
                <a:ea typeface="Calibri" panose="020F0502020204030204" pitchFamily="34" charset="0"/>
                <a:cs typeface="Calibri" panose="020F0502020204030204" pitchFamily="34" charset="0"/>
              </a:rPr>
              <a:t>seaborn</a:t>
            </a:r>
          </a:p>
        </p:txBody>
      </p:sp>
    </p:spTree>
    <p:extLst>
      <p:ext uri="{BB962C8B-B14F-4D97-AF65-F5344CB8AC3E}">
        <p14:creationId xmlns:p14="http://schemas.microsoft.com/office/powerpoint/2010/main" val="107468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107" y="811635"/>
            <a:ext cx="8719225" cy="555770"/>
          </a:xfrm>
        </p:spPr>
        <p:txBody>
          <a:bodyPr>
            <a:noAutofit/>
          </a:bodyPr>
          <a:lstStyle/>
          <a:p>
            <a:r>
              <a:rPr lang="en-IN" dirty="0"/>
              <a:t>RESULTS AND DISCUSSION</a:t>
            </a:r>
            <a:br>
              <a:rPr lang="en-US" b="1" dirty="0">
                <a:solidFill>
                  <a:srgbClr val="7030A0"/>
                </a:solidFill>
                <a:latin typeface="Arial" pitchFamily="34" charset="0"/>
                <a:cs typeface="Arial" pitchFamily="34" charset="0"/>
              </a:rPr>
            </a:br>
            <a:endParaRPr lang="en-US" dirty="0"/>
          </a:p>
        </p:txBody>
      </p:sp>
      <p:sp>
        <p:nvSpPr>
          <p:cNvPr id="3" name="Text Placeholder 2"/>
          <p:cNvSpPr>
            <a:spLocks noGrp="1"/>
          </p:cNvSpPr>
          <p:nvPr>
            <p:ph type="body" idx="1"/>
          </p:nvPr>
        </p:nvSpPr>
        <p:spPr>
          <a:xfrm>
            <a:off x="324107" y="1426129"/>
            <a:ext cx="8362693" cy="5010428"/>
          </a:xfrm>
        </p:spPr>
        <p:txBody>
          <a:bodyPr>
            <a:normAutofit lnSpcReduction="10000"/>
          </a:bodyPr>
          <a:lstStyle/>
          <a:p>
            <a:pPr algn="just">
              <a:buFont typeface="Arial" pitchFamily="34" charset="0"/>
              <a:buChar char="•"/>
            </a:pPr>
            <a:r>
              <a:rPr lang="en-US" dirty="0"/>
              <a:t>Reduced Energy Consumption: By predicting energy demand accurately, energy waste can be minimized.</a:t>
            </a:r>
          </a:p>
          <a:p>
            <a:pPr algn="just">
              <a:buFont typeface="Arial" pitchFamily="34" charset="0"/>
              <a:buChar char="•"/>
            </a:pPr>
            <a:r>
              <a:rPr lang="en-US" dirty="0"/>
              <a:t>Cost Savings: Improved energy efficiency and reduced waste lead to cost savings for utility companies and consumers.</a:t>
            </a:r>
          </a:p>
          <a:p>
            <a:pPr algn="just">
              <a:buFont typeface="Arial" pitchFamily="34" charset="0"/>
              <a:buChar char="•"/>
            </a:pPr>
            <a:r>
              <a:rPr lang="en-US" dirty="0"/>
              <a:t>Environmental Benefits: By promoting sustainable energy use, the solution contributes to a reduction in greenhouse gas emissions and environmental pollution.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C68CA-4E24-70B1-18FD-04DAB9FECCF9}"/>
              </a:ext>
            </a:extLst>
          </p:cNvPr>
          <p:cNvSpPr>
            <a:spLocks noGrp="1"/>
          </p:cNvSpPr>
          <p:nvPr>
            <p:ph type="title"/>
          </p:nvPr>
        </p:nvSpPr>
        <p:spPr/>
        <p:txBody>
          <a:bodyPr/>
          <a:lstStyle/>
          <a:p>
            <a:r>
              <a:rPr lang="en-IN" dirty="0"/>
              <a:t>REFERENCES(1/2)</a:t>
            </a:r>
          </a:p>
        </p:txBody>
      </p:sp>
      <p:sp>
        <p:nvSpPr>
          <p:cNvPr id="3" name="Text Placeholder 2">
            <a:extLst>
              <a:ext uri="{FF2B5EF4-FFF2-40B4-BE49-F238E27FC236}">
                <a16:creationId xmlns:a16="http://schemas.microsoft.com/office/drawing/2014/main" id="{108EA102-FDB2-E9E3-99A5-20CE34189E0C}"/>
              </a:ext>
            </a:extLst>
          </p:cNvPr>
          <p:cNvSpPr>
            <a:spLocks noGrp="1"/>
          </p:cNvSpPr>
          <p:nvPr>
            <p:ph type="body" idx="1"/>
          </p:nvPr>
        </p:nvSpPr>
        <p:spPr>
          <a:xfrm>
            <a:off x="457200" y="1371600"/>
            <a:ext cx="8229600" cy="5257800"/>
          </a:xfrm>
        </p:spPr>
        <p:txBody>
          <a:bodyPr>
            <a:normAutofit/>
          </a:bodyPr>
          <a:lstStyle/>
          <a:p>
            <a:r>
              <a:rPr lang="en-US" sz="1700" dirty="0"/>
              <a:t>A. Torres, A. </a:t>
            </a:r>
            <a:r>
              <a:rPr lang="en-US" sz="1700" dirty="0" err="1"/>
              <a:t>Colominas</a:t>
            </a:r>
            <a:r>
              <a:rPr lang="en-US" sz="1700" dirty="0"/>
              <a:t>, J. Schlotthauer, and M. E. Torres, “An Application of Ensemble Machine Learning for Forecasting Electrical Demand,” </a:t>
            </a:r>
            <a:r>
              <a:rPr lang="en-US" sz="1700" i="1" dirty="0"/>
              <a:t>Applied Energy</a:t>
            </a:r>
            <a:r>
              <a:rPr lang="en-US" sz="1700" dirty="0"/>
              <a:t>, vol. 253, p. 113596, 2019.</a:t>
            </a:r>
          </a:p>
          <a:p>
            <a:r>
              <a:rPr lang="en-US" sz="1700" dirty="0"/>
              <a:t>D. Li and T. Hong, “Load Forecasting Using Gradient Boosted Regression Trees,” </a:t>
            </a:r>
            <a:r>
              <a:rPr lang="en-US" sz="1700" i="1" dirty="0"/>
              <a:t>Energy Procedia</a:t>
            </a:r>
            <a:r>
              <a:rPr lang="en-US" sz="1700" dirty="0"/>
              <a:t>, vol. 88, pp. 109–114, 2016.</a:t>
            </a:r>
          </a:p>
          <a:p>
            <a:r>
              <a:rPr lang="en-US" sz="1700" dirty="0"/>
              <a:t>H. S. Hippert, C. E. Pedreira, and R. C. Souza, “Neural Networks for Short-Term Load Forecasting: A Review and Evaluation,” </a:t>
            </a:r>
            <a:r>
              <a:rPr lang="en-US" sz="1700" i="1" dirty="0"/>
              <a:t>IEEE Transactions on Power Systems</a:t>
            </a:r>
            <a:r>
              <a:rPr lang="en-US" sz="1700" dirty="0"/>
              <a:t>, vol. 16, no. 1, pp. 44–55, 2001.</a:t>
            </a:r>
            <a:endParaRPr lang="en-IN" sz="1700" dirty="0"/>
          </a:p>
          <a:p>
            <a:r>
              <a:rPr lang="en-US" sz="1700" dirty="0"/>
              <a:t>J. W. Taylor, “Short-Term Load Forecasting with Exponential Smoothing Models,” </a:t>
            </a:r>
            <a:r>
              <a:rPr lang="en-US" sz="1700" i="1" dirty="0"/>
              <a:t>International Journal of Forecasting</a:t>
            </a:r>
            <a:r>
              <a:rPr lang="en-US" sz="1700" dirty="0"/>
              <a:t>, vol. 19, no. 3, pp. 435–446, 2003.</a:t>
            </a:r>
          </a:p>
          <a:p>
            <a:r>
              <a:rPr lang="en-US" sz="1700" dirty="0"/>
              <a:t>K. </a:t>
            </a:r>
            <a:r>
              <a:rPr lang="en-US" sz="1700" dirty="0" err="1"/>
              <a:t>Kandananond</a:t>
            </a:r>
            <a:r>
              <a:rPr lang="en-US" sz="1700" dirty="0"/>
              <a:t>, “Forecasting Electricity Demand in Thailand with an Artificial Neural Network Approach,” </a:t>
            </a:r>
            <a:r>
              <a:rPr lang="en-US" sz="1700" i="1" dirty="0"/>
              <a:t>Energies</a:t>
            </a:r>
            <a:r>
              <a:rPr lang="en-US" sz="1700" dirty="0"/>
              <a:t>, vol. 4, no. 8, pp. 1246–1257, 2011.</a:t>
            </a:r>
            <a:endParaRPr lang="en-IN" sz="1700" dirty="0"/>
          </a:p>
          <a:p>
            <a:r>
              <a:rPr lang="en-US" sz="1700" dirty="0"/>
              <a:t>L. Gómez, R. A. </a:t>
            </a:r>
            <a:r>
              <a:rPr lang="en-US" sz="1700" dirty="0" err="1"/>
              <a:t>Reátegui</a:t>
            </a:r>
            <a:r>
              <a:rPr lang="en-US" sz="1700" dirty="0"/>
              <a:t>, and M. Ortega, “Machine Learning-Based Prediction of Urban Energy Consumption with Weather Data Fusion,” </a:t>
            </a:r>
            <a:r>
              <a:rPr lang="en-US" sz="1700" i="1" dirty="0"/>
              <a:t>Sustainable Cities and Society</a:t>
            </a:r>
            <a:r>
              <a:rPr lang="en-US" sz="1700" dirty="0"/>
              <a:t>, vol. 74, p. 103204, 2021.</a:t>
            </a:r>
            <a:endParaRPr lang="en-IN" sz="1700" dirty="0"/>
          </a:p>
          <a:p>
            <a:r>
              <a:rPr lang="en-US" sz="1700" dirty="0"/>
              <a:t>M. </a:t>
            </a:r>
            <a:r>
              <a:rPr lang="en-US" sz="1700" dirty="0" err="1"/>
              <a:t>Amjady</a:t>
            </a:r>
            <a:r>
              <a:rPr lang="en-US" sz="1700" dirty="0"/>
              <a:t> and E. Keynia, “Short-Term Load Forecasting of Power Systems by Combination of Wavelet Transform and Neuro-Evolutionary Algorithm,” </a:t>
            </a:r>
            <a:r>
              <a:rPr lang="en-US" sz="1700" i="1" dirty="0"/>
              <a:t>Energy</a:t>
            </a:r>
            <a:r>
              <a:rPr lang="en-US" sz="1700" dirty="0"/>
              <a:t>, vol. 36, no. 5, pp. 2866–2877, 2011.</a:t>
            </a:r>
            <a:endParaRPr lang="en-IN" sz="1700" dirty="0"/>
          </a:p>
          <a:p>
            <a:endParaRPr lang="en-IN" sz="1600" dirty="0"/>
          </a:p>
          <a:p>
            <a:endParaRPr lang="en-IN" sz="1600" dirty="0"/>
          </a:p>
          <a:p>
            <a:endParaRPr lang="en-IN" sz="1600" dirty="0"/>
          </a:p>
          <a:p>
            <a:endParaRPr lang="en-IN" dirty="0"/>
          </a:p>
        </p:txBody>
      </p:sp>
      <p:sp>
        <p:nvSpPr>
          <p:cNvPr id="4" name="Slide Number Placeholder 3">
            <a:extLst>
              <a:ext uri="{FF2B5EF4-FFF2-40B4-BE49-F238E27FC236}">
                <a16:creationId xmlns:a16="http://schemas.microsoft.com/office/drawing/2014/main" id="{43DABE94-31EA-AB11-096D-F5ADC45925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extLst>
      <p:ext uri="{BB962C8B-B14F-4D97-AF65-F5344CB8AC3E}">
        <p14:creationId xmlns:p14="http://schemas.microsoft.com/office/powerpoint/2010/main" val="4218820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902F-BA25-CC83-08E9-C185817BDF3F}"/>
              </a:ext>
            </a:extLst>
          </p:cNvPr>
          <p:cNvSpPr>
            <a:spLocks noGrp="1"/>
          </p:cNvSpPr>
          <p:nvPr>
            <p:ph type="title"/>
          </p:nvPr>
        </p:nvSpPr>
        <p:spPr/>
        <p:txBody>
          <a:bodyPr/>
          <a:lstStyle/>
          <a:p>
            <a:r>
              <a:rPr lang="en-IN" dirty="0"/>
              <a:t>REFERENCES(2/2)</a:t>
            </a:r>
          </a:p>
        </p:txBody>
      </p:sp>
      <p:sp>
        <p:nvSpPr>
          <p:cNvPr id="3" name="Text Placeholder 2">
            <a:extLst>
              <a:ext uri="{FF2B5EF4-FFF2-40B4-BE49-F238E27FC236}">
                <a16:creationId xmlns:a16="http://schemas.microsoft.com/office/drawing/2014/main" id="{B7913F44-64CB-B10A-7943-3C299A18091B}"/>
              </a:ext>
            </a:extLst>
          </p:cNvPr>
          <p:cNvSpPr>
            <a:spLocks noGrp="1"/>
          </p:cNvSpPr>
          <p:nvPr>
            <p:ph type="body" idx="1"/>
          </p:nvPr>
        </p:nvSpPr>
        <p:spPr/>
        <p:txBody>
          <a:bodyPr>
            <a:normAutofit/>
          </a:bodyPr>
          <a:lstStyle/>
          <a:p>
            <a:r>
              <a:rPr lang="en-US" sz="1600" dirty="0"/>
              <a:t>R. Prakash and S. Nair, “Energy Consumption Prediction Using </a:t>
            </a:r>
            <a:r>
              <a:rPr lang="en-US" sz="1600" dirty="0" err="1"/>
              <a:t>XGBoost</a:t>
            </a:r>
            <a:r>
              <a:rPr lang="en-US" sz="1600" dirty="0"/>
              <a:t> and Time-Series Feature Engineering,” </a:t>
            </a:r>
            <a:r>
              <a:rPr lang="en-US" sz="1600" i="1" dirty="0"/>
              <a:t>Journal of Energy Informatics</a:t>
            </a:r>
            <a:r>
              <a:rPr lang="en-US" sz="1600" dirty="0"/>
              <a:t>, vol. 5, no. 2, pp. 1–14, 2022.</a:t>
            </a:r>
          </a:p>
          <a:p>
            <a:r>
              <a:rPr lang="en-US" sz="1600" dirty="0"/>
              <a:t>T. Chen and C. </a:t>
            </a:r>
            <a:r>
              <a:rPr lang="en-US" sz="1600" dirty="0" err="1"/>
              <a:t>Guestrin</a:t>
            </a:r>
            <a:r>
              <a:rPr lang="en-US" sz="1600" dirty="0"/>
              <a:t>, “</a:t>
            </a:r>
            <a:r>
              <a:rPr lang="en-US" sz="1600" dirty="0" err="1"/>
              <a:t>XGBoost</a:t>
            </a:r>
            <a:r>
              <a:rPr lang="en-US" sz="1600" dirty="0"/>
              <a:t>: A Scalable Tree Boosting System,” </a:t>
            </a:r>
            <a:r>
              <a:rPr lang="en-US" sz="1600" i="1" dirty="0"/>
              <a:t>Proceedings of the 22nd ACM SIGKDD International Conference on Knowledge Discovery and Data Mining</a:t>
            </a:r>
            <a:r>
              <a:rPr lang="en-US" sz="1600" dirty="0"/>
              <a:t>, pp. 785–794, 2016.</a:t>
            </a:r>
          </a:p>
          <a:p>
            <a:r>
              <a:rPr lang="en-US" sz="1600" dirty="0"/>
              <a:t>W. Kong, Z. Y. Dong, D. J. Hill, F. Luo, and X. Ma, “Short-Term Residential Load Forecasting Based on LSTM Recurrent Neural Network,” </a:t>
            </a:r>
            <a:r>
              <a:rPr lang="en-US" sz="1600" i="1" dirty="0"/>
              <a:t>IEEE Transactions on Smart Grid</a:t>
            </a:r>
            <a:r>
              <a:rPr lang="en-US" sz="1600" dirty="0"/>
              <a:t>, vol. 10, no. 1, pp. 841–851, 2019.</a:t>
            </a:r>
            <a:endParaRPr lang="en-IN" sz="1600" dirty="0"/>
          </a:p>
          <a:p>
            <a:endParaRPr lang="en-IN" sz="1600" dirty="0"/>
          </a:p>
          <a:p>
            <a:endParaRPr lang="en-IN" sz="1600" dirty="0"/>
          </a:p>
        </p:txBody>
      </p:sp>
      <p:sp>
        <p:nvSpPr>
          <p:cNvPr id="4" name="Slide Number Placeholder 3">
            <a:extLst>
              <a:ext uri="{FF2B5EF4-FFF2-40B4-BE49-F238E27FC236}">
                <a16:creationId xmlns:a16="http://schemas.microsoft.com/office/drawing/2014/main" id="{4E1ABC89-A6EC-3547-FF74-03005F8E4D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extLst>
      <p:ext uri="{BB962C8B-B14F-4D97-AF65-F5344CB8AC3E}">
        <p14:creationId xmlns:p14="http://schemas.microsoft.com/office/powerpoint/2010/main" val="1273074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THANK YOU</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E8A9F4-4DB3-4EF1-A315-68E41BB689F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 December 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School of Computing - CSE</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28076C-CE04-4A00-BFAA-A90EA835585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Rectangle 5"/>
          <p:cNvSpPr/>
          <p:nvPr/>
        </p:nvSpPr>
        <p:spPr>
          <a:xfrm>
            <a:off x="609600" y="2690336"/>
            <a:ext cx="7918940" cy="138499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Calibri"/>
                <a:ea typeface="+mn-ea"/>
                <a:cs typeface="+mn-cs"/>
              </a:rPr>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TotalTime>
  <Words>1452</Words>
  <Application>Microsoft Office PowerPoint</Application>
  <PresentationFormat>On-screen Show (4:3)</PresentationFormat>
  <Paragraphs>189</Paragraphs>
  <Slides>18</Slides>
  <Notes>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Arial</vt:lpstr>
      <vt:lpstr>Calibri</vt:lpstr>
      <vt:lpstr>Courier New</vt:lpstr>
      <vt:lpstr>Custom Design</vt:lpstr>
      <vt:lpstr>1_Custom Design</vt:lpstr>
      <vt:lpstr>  </vt:lpstr>
      <vt:lpstr>AGENDA</vt:lpstr>
      <vt:lpstr>ABSTRACT</vt:lpstr>
      <vt:lpstr>OBJECTIVE(S)</vt:lpstr>
      <vt:lpstr>LITERATURE SURVEY(1/5)</vt:lpstr>
      <vt:lpstr>LITERATURE SURVEY(2/5)</vt:lpstr>
      <vt:lpstr>LITERATURE SURVEY(3/5)</vt:lpstr>
      <vt:lpstr>LITERATURE SURVEY(4/5)</vt:lpstr>
      <vt:lpstr>LITERATURE SURVEY(5/5)</vt:lpstr>
      <vt:lpstr>INFERENCES FROM LITERATURE SURVEY</vt:lpstr>
      <vt:lpstr>PROPOSED SYSTEM(1/2)</vt:lpstr>
      <vt:lpstr>PROPOSED SYSTEM(2/2)</vt:lpstr>
      <vt:lpstr>MODULES(1/2)</vt:lpstr>
      <vt:lpstr>MODULES(2/2)</vt:lpstr>
      <vt:lpstr>RESULTS AND DISCUSSION </vt:lpstr>
      <vt:lpstr>REFERENCES(1/2)</vt:lpstr>
      <vt:lpstr>REFERENCES(2/2)</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Bharath Kumar</dc:creator>
  <cp:lastModifiedBy>Dwarampudi D V S Narayana Reddy</cp:lastModifiedBy>
  <cp:revision>12</cp:revision>
  <dcterms:modified xsi:type="dcterms:W3CDTF">2025-12-15T08:55:01Z</dcterms:modified>
</cp:coreProperties>
</file>