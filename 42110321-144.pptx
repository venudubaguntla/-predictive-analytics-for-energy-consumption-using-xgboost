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10.xml" ContentType="application/vnd.openxmlformats-officedocument.presentationml.slideLayout+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 id="2147483661" r:id="rId2"/>
  </p:sldMasterIdLst>
  <p:notesMasterIdLst>
    <p:notesMasterId r:id="rId21"/>
  </p:notesMasterIdLst>
  <p:sldIdLst>
    <p:sldId id="256" r:id="rId3"/>
    <p:sldId id="257" r:id="rId4"/>
    <p:sldId id="258" r:id="rId5"/>
    <p:sldId id="259" r:id="rId6"/>
    <p:sldId id="305" r:id="rId7"/>
    <p:sldId id="304" r:id="rId8"/>
    <p:sldId id="306" r:id="rId9"/>
    <p:sldId id="307" r:id="rId10"/>
    <p:sldId id="308" r:id="rId11"/>
    <p:sldId id="262" r:id="rId12"/>
    <p:sldId id="265" r:id="rId13"/>
    <p:sldId id="264" r:id="rId14"/>
    <p:sldId id="279" r:id="rId15"/>
    <p:sldId id="280" r:id="rId16"/>
    <p:sldId id="275" r:id="rId17"/>
    <p:sldId id="302" r:id="rId18"/>
    <p:sldId id="303" r:id="rId19"/>
    <p:sldId id="301" r:id="rId20"/>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xmlns="">
        <p14:section name="Default Section" id="{E22974F6-DB63-4754-A9C5-176EC249C43A}">
          <p14:sldIdLst>
            <p14:sldId id="256"/>
            <p14:sldId id="257"/>
            <p14:sldId id="258"/>
            <p14:sldId id="259"/>
            <p14:sldId id="268"/>
            <p14:sldId id="269"/>
            <p14:sldId id="270"/>
            <p14:sldId id="271"/>
            <p14:sldId id="272"/>
            <p14:sldId id="262"/>
            <p14:sldId id="265"/>
            <p14:sldId id="264"/>
            <p14:sldId id="279"/>
            <p14:sldId id="280"/>
            <p14:sldId id="275"/>
            <p14:sldId id="302"/>
            <p14:sldId id="303"/>
            <p14:sldId id="301"/>
          </p14:sldIdLst>
        </p14:section>
      </p14:sectionLst>
    </p:ex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1474" y="-91"/>
      </p:cViewPr>
      <p:guideLst>
        <p:guide orient="horz" pos="2160"/>
        <p:guide pos="288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100" d="100"/>
          <a:sy n="100" d="100"/>
        </p:scale>
        <p:origin x="0" y="0"/>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 name="Google Shape;9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71fda71452_0_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371fda71452_0_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g371fda71452_0_5: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pPr marL="0" lvl="0" indent="0" algn="r" rtl="0">
                <a:spcBef>
                  <a:spcPts val="0"/>
                </a:spcBef>
                <a:spcAft>
                  <a:spcPts val="0"/>
                </a:spcAft>
                <a:buClr>
                  <a:srgbClr val="000000"/>
                </a:buClr>
                <a:buFont typeface="Arial"/>
                <a:buNone/>
              </a:pPr>
              <a:t>12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0" name="Google Shape;20;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3"/>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6" name="Google Shape;26;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4"/>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7" name="Google Shape;37;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3" name="Google Shape;43;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4" name="Google Shape;44;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0" name="Google Shape;50;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1" name="Google Shape;51;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2" name="Google Shape;52;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3" name="Google Shape;53;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3" name="Google Shape;63;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4" name="Google Shape;64;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10"/>
          <p:cNvSpPr>
            <a:spLocks noGrp="1"/>
          </p:cNvSpPr>
          <p:nvPr>
            <p:ph type="pic" idx="2"/>
          </p:nvPr>
        </p:nvSpPr>
        <p:spPr>
          <a:xfrm>
            <a:off x="1792288" y="612775"/>
            <a:ext cx="5486400" cy="4114800"/>
          </a:xfrm>
          <a:prstGeom prst="rect">
            <a:avLst/>
          </a:prstGeom>
          <a:noFill/>
          <a:ln>
            <a:noFill/>
          </a:ln>
        </p:spPr>
      </p:sp>
      <p:sp>
        <p:nvSpPr>
          <p:cNvPr id="70" name="Google Shape;70;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1" name="Google Shape;71;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11"/>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3" name="Google Shape;83;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86"/>
        <p:cNvGrpSpPr/>
        <p:nvPr/>
      </p:nvGrpSpPr>
      <p:grpSpPr>
        <a:xfrm>
          <a:off x="0" y="0"/>
          <a:ext cx="0" cy="0"/>
          <a:chOff x="0" y="0"/>
          <a:chExt cx="0" cy="0"/>
        </a:xfrm>
      </p:grpSpPr>
      <p:sp>
        <p:nvSpPr>
          <p:cNvPr id="87" name="Google Shape;87;p1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8" name="Google Shape;88;p13"/>
          <p:cNvSpPr txBox="1">
            <a:spLocks noGrp="1"/>
          </p:cNvSpPr>
          <p:nvPr>
            <p:ph type="dt" idx="10"/>
          </p:nvPr>
        </p:nvSpPr>
        <p:spPr>
          <a:xfrm>
            <a:off x="457200" y="6356350"/>
            <a:ext cx="2133600" cy="365125"/>
          </a:xfrm>
          <a:prstGeom prst="rect">
            <a:avLst/>
          </a:prstGeom>
          <a:noFill/>
          <a:ln>
            <a:noFill/>
          </a:ln>
          <a:effectLst>
            <a:outerShdw blurRad="50800" dist="50800" dir="5400000" algn="ctr" rotWithShape="0">
              <a:schemeClr val="lt1"/>
            </a:outerShdw>
          </a:effectLst>
        </p:spPr>
        <p:txBody>
          <a:bodyPr spcFirstLastPara="1" wrap="square" lIns="91425" tIns="45700" rIns="91425" bIns="45700" anchor="ctr" anchorCtr="0">
            <a:noAutofit/>
          </a:bodyPr>
          <a:lstStyle>
            <a:lvl1pPr lvl="0" algn="l">
              <a:spcBef>
                <a:spcPts val="0"/>
              </a:spcBef>
              <a:spcAft>
                <a:spcPts val="0"/>
              </a:spcAft>
              <a:buSzPts val="1400"/>
              <a:buNone/>
              <a:defRPr>
                <a:solidFill>
                  <a:srgbClr val="97480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97480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974806"/>
                </a:solidFill>
                <a:latin typeface="Calibri"/>
                <a:ea typeface="Calibri"/>
                <a:cs typeface="Calibri"/>
                <a:sym typeface="Calibri"/>
              </a:defRPr>
            </a:lvl1pPr>
            <a:lvl2pPr marL="0" lvl="1" indent="0" algn="r">
              <a:spcBef>
                <a:spcPts val="0"/>
              </a:spcBef>
              <a:buNone/>
              <a:defRPr sz="1200">
                <a:solidFill>
                  <a:srgbClr val="974806"/>
                </a:solidFill>
                <a:latin typeface="Calibri"/>
                <a:ea typeface="Calibri"/>
                <a:cs typeface="Calibri"/>
                <a:sym typeface="Calibri"/>
              </a:defRPr>
            </a:lvl2pPr>
            <a:lvl3pPr marL="0" lvl="2" indent="0" algn="r">
              <a:spcBef>
                <a:spcPts val="0"/>
              </a:spcBef>
              <a:buNone/>
              <a:defRPr sz="1200">
                <a:solidFill>
                  <a:srgbClr val="974806"/>
                </a:solidFill>
                <a:latin typeface="Calibri"/>
                <a:ea typeface="Calibri"/>
                <a:cs typeface="Calibri"/>
                <a:sym typeface="Calibri"/>
              </a:defRPr>
            </a:lvl3pPr>
            <a:lvl4pPr marL="0" lvl="3" indent="0" algn="r">
              <a:spcBef>
                <a:spcPts val="0"/>
              </a:spcBef>
              <a:buNone/>
              <a:defRPr sz="1200">
                <a:solidFill>
                  <a:srgbClr val="974806"/>
                </a:solidFill>
                <a:latin typeface="Calibri"/>
                <a:ea typeface="Calibri"/>
                <a:cs typeface="Calibri"/>
                <a:sym typeface="Calibri"/>
              </a:defRPr>
            </a:lvl4pPr>
            <a:lvl5pPr marL="0" lvl="4" indent="0" algn="r">
              <a:spcBef>
                <a:spcPts val="0"/>
              </a:spcBef>
              <a:buNone/>
              <a:defRPr sz="1200">
                <a:solidFill>
                  <a:srgbClr val="974806"/>
                </a:solidFill>
                <a:latin typeface="Calibri"/>
                <a:ea typeface="Calibri"/>
                <a:cs typeface="Calibri"/>
                <a:sym typeface="Calibri"/>
              </a:defRPr>
            </a:lvl5pPr>
            <a:lvl6pPr marL="0" lvl="5" indent="0" algn="r">
              <a:spcBef>
                <a:spcPts val="0"/>
              </a:spcBef>
              <a:buNone/>
              <a:defRPr sz="1200">
                <a:solidFill>
                  <a:srgbClr val="974806"/>
                </a:solidFill>
                <a:latin typeface="Calibri"/>
                <a:ea typeface="Calibri"/>
                <a:cs typeface="Calibri"/>
                <a:sym typeface="Calibri"/>
              </a:defRPr>
            </a:lvl6pPr>
            <a:lvl7pPr marL="0" lvl="6" indent="0" algn="r">
              <a:spcBef>
                <a:spcPts val="0"/>
              </a:spcBef>
              <a:buNone/>
              <a:defRPr sz="1200">
                <a:solidFill>
                  <a:srgbClr val="974806"/>
                </a:solidFill>
                <a:latin typeface="Calibri"/>
                <a:ea typeface="Calibri"/>
                <a:cs typeface="Calibri"/>
                <a:sym typeface="Calibri"/>
              </a:defRPr>
            </a:lvl7pPr>
            <a:lvl8pPr marL="0" lvl="7" indent="0" algn="r">
              <a:spcBef>
                <a:spcPts val="0"/>
              </a:spcBef>
              <a:buNone/>
              <a:defRPr sz="1200">
                <a:solidFill>
                  <a:srgbClr val="974806"/>
                </a:solidFill>
                <a:latin typeface="Calibri"/>
                <a:ea typeface="Calibri"/>
                <a:cs typeface="Calibri"/>
                <a:sym typeface="Calibri"/>
              </a:defRPr>
            </a:lvl8pPr>
            <a:lvl9pPr marL="0" lvl="8" indent="0" algn="r">
              <a:spcBef>
                <a:spcPts val="0"/>
              </a:spcBef>
              <a:buNone/>
              <a:defRPr sz="1200">
                <a:solidFill>
                  <a:srgbClr val="974806"/>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3BD94B3-44B9-44B7-85A7-F056FA607D46}" type="datetime3">
              <a:rPr lang="en-US" smtClean="0"/>
              <a:pPr/>
              <a:t>15 December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xmlns="" val="17162744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7275DB-6D13-480B-AC77-F5019BDC5287}" type="datetime3">
              <a:rPr lang="en-US" smtClean="0"/>
              <a:pPr/>
              <a:t>15 December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xmlns="" val="33377244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2A365F-315E-4D26-B736-3944439F5E09}" type="datetime3">
              <a:rPr lang="en-US" smtClean="0"/>
              <a:pPr/>
              <a:t>15 December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xmlns="" val="18450780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AB1E7AE-CF1A-4AE7-BD2C-F950D278A3DB}" type="datetime3">
              <a:rPr lang="en-US" smtClean="0"/>
              <a:pPr/>
              <a:t>15 December 2025</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xmlns="" val="33682625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C6D51F8-804C-441D-85CA-D64DC6F78406}" type="datetime3">
              <a:rPr lang="en-US" smtClean="0"/>
              <a:pPr/>
              <a:t>15 December 2025</a:t>
            </a:fld>
            <a:endParaRPr lang="en-US"/>
          </a:p>
        </p:txBody>
      </p:sp>
      <p:sp>
        <p:nvSpPr>
          <p:cNvPr id="8" name="Footer Placeholder 7"/>
          <p:cNvSpPr>
            <a:spLocks noGrp="1"/>
          </p:cNvSpPr>
          <p:nvPr>
            <p:ph type="ftr" sz="quarter" idx="11"/>
          </p:nvPr>
        </p:nvSpPr>
        <p:spPr/>
        <p:txBody>
          <a:bodyPr/>
          <a:lstStyle/>
          <a:p>
            <a:r>
              <a:rPr lang="en-US"/>
              <a:t>School of Computing - CSE</a:t>
            </a:r>
          </a:p>
        </p:txBody>
      </p:sp>
      <p:sp>
        <p:nvSpPr>
          <p:cNvPr id="9" name="Slide Number Placeholder 8"/>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xmlns="" val="35546832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97CCCDB-4457-4C48-985F-BD1C33DF88D2}" type="datetime3">
              <a:rPr lang="en-US" smtClean="0"/>
              <a:pPr/>
              <a:t>15 December 2025</a:t>
            </a:fld>
            <a:endParaRPr lang="en-US"/>
          </a:p>
        </p:txBody>
      </p:sp>
      <p:sp>
        <p:nvSpPr>
          <p:cNvPr id="4" name="Footer Placeholder 3"/>
          <p:cNvSpPr>
            <a:spLocks noGrp="1"/>
          </p:cNvSpPr>
          <p:nvPr>
            <p:ph type="ftr" sz="quarter" idx="11"/>
          </p:nvPr>
        </p:nvSpPr>
        <p:spPr/>
        <p:txBody>
          <a:bodyPr/>
          <a:lstStyle/>
          <a:p>
            <a:r>
              <a:rPr lang="en-US"/>
              <a:t>School of Computing - CSE</a:t>
            </a:r>
          </a:p>
        </p:txBody>
      </p:sp>
      <p:sp>
        <p:nvSpPr>
          <p:cNvPr id="5" name="Slide Number Placeholder 4"/>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xmlns="" val="9323449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F4AF7E-7813-4879-8B55-5575B0080D39}" type="datetime3">
              <a:rPr lang="en-US" smtClean="0"/>
              <a:pPr/>
              <a:t>15 December 2025</a:t>
            </a:fld>
            <a:endParaRPr lang="en-US"/>
          </a:p>
        </p:txBody>
      </p:sp>
      <p:sp>
        <p:nvSpPr>
          <p:cNvPr id="3" name="Footer Placeholder 2"/>
          <p:cNvSpPr>
            <a:spLocks noGrp="1"/>
          </p:cNvSpPr>
          <p:nvPr>
            <p:ph type="ftr" sz="quarter" idx="11"/>
          </p:nvPr>
        </p:nvSpPr>
        <p:spPr/>
        <p:txBody>
          <a:bodyPr/>
          <a:lstStyle/>
          <a:p>
            <a:r>
              <a:rPr lang="en-US"/>
              <a:t>School of Computing - CSE</a:t>
            </a:r>
          </a:p>
        </p:txBody>
      </p:sp>
      <p:sp>
        <p:nvSpPr>
          <p:cNvPr id="4" name="Slide Number Placeholder 3"/>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xmlns="" val="13642919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9EC94D0-F97F-48E4-A142-9DA614267486}" type="datetime3">
              <a:rPr lang="en-US" smtClean="0"/>
              <a:pPr/>
              <a:t>15 December 2025</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xmlns="" val="9164448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7DA9B2-FBCA-4233-9590-C0754509BDB5}" type="datetime3">
              <a:rPr lang="en-US" smtClean="0"/>
              <a:pPr/>
              <a:t>15 December 2025</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xmlns="" val="279319364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B910C5-081D-4FA6-9B78-BB56BEB475DD}" type="datetime3">
              <a:rPr lang="en-US" smtClean="0"/>
              <a:pPr/>
              <a:t>15 December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xmlns="" val="26883551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8360AF-72BE-4445-B200-736511B20555}" type="datetime3">
              <a:rPr lang="en-US" smtClean="0"/>
              <a:pPr/>
              <a:t>15 December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xmlns="" val="42365001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noFill/>
          <a:ln>
            <a:noFill/>
          </a:ln>
          <a:effectLst>
            <a:outerShdw blurRad="50800" dist="50800" dir="5400000" algn="ctr" rotWithShape="0">
              <a:schemeClr val="bg1"/>
            </a:outerShdw>
          </a:effectLst>
        </p:spPr>
        <p:txBody>
          <a:bodyPr/>
          <a:lstStyle>
            <a:lvl1pPr>
              <a:defRPr>
                <a:solidFill>
                  <a:schemeClr val="accent6">
                    <a:lumMod val="50000"/>
                  </a:schemeClr>
                </a:solidFill>
              </a:defRPr>
            </a:lvl1pPr>
          </a:lstStyle>
          <a:p>
            <a:fld id="{10B6530B-5C68-4965-B8A9-8C18D26903BD}" type="datetime3">
              <a:rPr lang="en-US" smtClean="0"/>
              <a:pPr/>
              <a:t>15 December 2025</a:t>
            </a:fld>
            <a:endParaRPr lang="en-US" dirty="0"/>
          </a:p>
        </p:txBody>
      </p:sp>
      <p:sp>
        <p:nvSpPr>
          <p:cNvPr id="5" name="Footer Placeholder 4"/>
          <p:cNvSpPr>
            <a:spLocks noGrp="1"/>
          </p:cNvSpPr>
          <p:nvPr>
            <p:ph type="ftr" sz="quarter" idx="11"/>
          </p:nvPr>
        </p:nvSpPr>
        <p:spPr/>
        <p:txBody>
          <a:bodyPr/>
          <a:lstStyle>
            <a:lvl1pPr>
              <a:defRPr>
                <a:solidFill>
                  <a:schemeClr val="accent6">
                    <a:lumMod val="50000"/>
                  </a:schemeClr>
                </a:solidFill>
              </a:defRPr>
            </a:lvl1pPr>
          </a:lstStyle>
          <a:p>
            <a:r>
              <a:rPr lang="en-US"/>
              <a:t>School of Computing - CSE</a:t>
            </a:r>
            <a:endParaRPr lang="en-US" dirty="0"/>
          </a:p>
        </p:txBody>
      </p:sp>
      <p:sp>
        <p:nvSpPr>
          <p:cNvPr id="6" name="Slide Number Placeholder 5"/>
          <p:cNvSpPr>
            <a:spLocks noGrp="1"/>
          </p:cNvSpPr>
          <p:nvPr>
            <p:ph type="sldNum" sz="quarter" idx="12"/>
          </p:nvPr>
        </p:nvSpPr>
        <p:spPr/>
        <p:txBody>
          <a:bodyPr/>
          <a:lstStyle>
            <a:lvl1pPr>
              <a:defRPr>
                <a:solidFill>
                  <a:schemeClr val="accent6">
                    <a:lumMod val="50000"/>
                  </a:schemeClr>
                </a:solidFill>
              </a:defRPr>
            </a:lvl1pPr>
          </a:lstStyle>
          <a:p>
            <a:fld id="{C0EC1BDC-9B67-430D-970A-E36C75175141}" type="slidenum">
              <a:rPr lang="en-US" smtClean="0"/>
              <a:pPr/>
              <a:t>‹#›</a:t>
            </a:fld>
            <a:endParaRPr lang="en-US" dirty="0"/>
          </a:p>
        </p:txBody>
      </p:sp>
    </p:spTree>
    <p:extLst>
      <p:ext uri="{BB962C8B-B14F-4D97-AF65-F5344CB8AC3E}">
        <p14:creationId xmlns:p14="http://schemas.microsoft.com/office/powerpoint/2010/main" xmlns="" val="31050084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15" name="Google Shape;15;p1"/>
          <p:cNvSpPr/>
          <p:nvPr/>
        </p:nvSpPr>
        <p:spPr>
          <a:xfrm>
            <a:off x="298940" y="177143"/>
            <a:ext cx="8610600" cy="6553200"/>
          </a:xfrm>
          <a:prstGeom prst="rect">
            <a:avLst/>
          </a:prstGeom>
          <a:no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16" name="Google Shape;16;p1"/>
          <p:cNvCxnSpPr/>
          <p:nvPr/>
        </p:nvCxnSpPr>
        <p:spPr>
          <a:xfrm>
            <a:off x="298940" y="1219200"/>
            <a:ext cx="8610600" cy="1588"/>
          </a:xfrm>
          <a:prstGeom prst="straightConnector1">
            <a:avLst/>
          </a:prstGeom>
          <a:noFill/>
          <a:ln w="25400" cap="flat" cmpd="sng">
            <a:solidFill>
              <a:schemeClr val="dk2"/>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8940" y="228600"/>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4D4881-3C1B-4E10-8E47-87CE42F43D14}" type="datetime3">
              <a:rPr lang="en-US" smtClean="0"/>
              <a:pPr/>
              <a:t>15 December 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School of Computing - CSE</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28076C-CE04-4A00-BFAA-A90EA8355859}" type="slidenum">
              <a:rPr lang="en-US" smtClean="0"/>
              <a:pPr/>
              <a:t>‹#›</a:t>
            </a:fld>
            <a:endParaRPr lang="en-US"/>
          </a:p>
        </p:txBody>
      </p:sp>
      <p:sp>
        <p:nvSpPr>
          <p:cNvPr id="8" name="Rectangle 7"/>
          <p:cNvSpPr/>
          <p:nvPr userDrawn="1"/>
        </p:nvSpPr>
        <p:spPr>
          <a:xfrm>
            <a:off x="298940" y="177143"/>
            <a:ext cx="8610600" cy="6553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p:cNvCxnSpPr/>
          <p:nvPr userDrawn="1"/>
        </p:nvCxnSpPr>
        <p:spPr>
          <a:xfrm>
            <a:off x="298940" y="1219200"/>
            <a:ext cx="8610600" cy="1588"/>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366286209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ctrTitle"/>
          </p:nvPr>
        </p:nvSpPr>
        <p:spPr>
          <a:xfrm>
            <a:off x="571500" y="449944"/>
            <a:ext cx="7772400" cy="3505199"/>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244061"/>
              </a:buClr>
              <a:buSzPts val="2000"/>
              <a:buFont typeface="Arial"/>
              <a:buNone/>
            </a:pPr>
            <a:r>
              <a:rPr lang="en-US" sz="2000">
                <a:solidFill>
                  <a:srgbClr val="244061"/>
                </a:solidFill>
                <a:latin typeface="Arial"/>
                <a:ea typeface="Arial"/>
                <a:cs typeface="Arial"/>
                <a:sym typeface="Arial"/>
              </a:rPr>
              <a:t/>
            </a:r>
            <a:br>
              <a:rPr lang="en-US" sz="2000">
                <a:solidFill>
                  <a:srgbClr val="244061"/>
                </a:solidFill>
                <a:latin typeface="Arial"/>
                <a:ea typeface="Arial"/>
                <a:cs typeface="Arial"/>
                <a:sym typeface="Arial"/>
              </a:rPr>
            </a:br>
            <a:r>
              <a:rPr lang="en-US" sz="2400">
                <a:solidFill>
                  <a:srgbClr val="244061"/>
                </a:solidFill>
                <a:latin typeface="Arial"/>
                <a:ea typeface="Arial"/>
                <a:cs typeface="Arial"/>
                <a:sym typeface="Arial"/>
              </a:rPr>
              <a:t/>
            </a:r>
            <a:br>
              <a:rPr lang="en-US" sz="2400">
                <a:solidFill>
                  <a:srgbClr val="244061"/>
                </a:solidFill>
                <a:latin typeface="Arial"/>
                <a:ea typeface="Arial"/>
                <a:cs typeface="Arial"/>
                <a:sym typeface="Arial"/>
              </a:rPr>
            </a:br>
            <a:endParaRPr sz="2400">
              <a:solidFill>
                <a:srgbClr val="244061"/>
              </a:solidFill>
              <a:latin typeface="Arial"/>
              <a:ea typeface="Arial"/>
              <a:cs typeface="Arial"/>
              <a:sym typeface="Arial"/>
            </a:endParaRPr>
          </a:p>
        </p:txBody>
      </p:sp>
      <p:sp>
        <p:nvSpPr>
          <p:cNvPr id="97" name="Google Shape;97;p14"/>
          <p:cNvSpPr txBox="1">
            <a:spLocks noGrp="1"/>
          </p:cNvSpPr>
          <p:nvPr>
            <p:ph type="subTitle" idx="1"/>
          </p:nvPr>
        </p:nvSpPr>
        <p:spPr>
          <a:xfrm>
            <a:off x="1103128" y="3235988"/>
            <a:ext cx="6709143" cy="885409"/>
          </a:xfrm>
          <a:prstGeom prst="rect">
            <a:avLst/>
          </a:prstGeom>
          <a:noFill/>
          <a:ln>
            <a:noFill/>
          </a:ln>
        </p:spPr>
        <p:txBody>
          <a:bodyPr spcFirstLastPara="1" wrap="square" lIns="91425" tIns="45700" rIns="91425" bIns="45700" anchor="t" anchorCtr="0">
            <a:normAutofit fontScale="25000" lnSpcReduction="20000"/>
          </a:bodyPr>
          <a:lstStyle/>
          <a:p>
            <a:pPr marL="0" lvl="0" indent="0" algn="ctr" rtl="0">
              <a:spcBef>
                <a:spcPts val="0"/>
              </a:spcBef>
              <a:spcAft>
                <a:spcPts val="0"/>
              </a:spcAft>
              <a:buClr>
                <a:srgbClr val="888888"/>
              </a:buClr>
              <a:buSzPct val="100000"/>
              <a:buNone/>
            </a:pPr>
            <a:endParaRPr sz="2800" b="1" dirty="0">
              <a:solidFill>
                <a:schemeClr val="dk1"/>
              </a:solidFill>
              <a:latin typeface="Arial"/>
              <a:ea typeface="Arial"/>
              <a:cs typeface="Arial"/>
              <a:sym typeface="Arial"/>
            </a:endParaRPr>
          </a:p>
          <a:p>
            <a:pPr marL="0" lvl="0" indent="0" algn="ctr" rtl="0">
              <a:spcBef>
                <a:spcPts val="266"/>
              </a:spcBef>
              <a:spcAft>
                <a:spcPts val="0"/>
              </a:spcAft>
              <a:buClr>
                <a:srgbClr val="888888"/>
              </a:buClr>
              <a:buSzPct val="100000"/>
              <a:buNone/>
            </a:pPr>
            <a:endParaRPr sz="2800" dirty="0">
              <a:solidFill>
                <a:schemeClr val="dk1"/>
              </a:solidFill>
              <a:latin typeface="Arial"/>
              <a:ea typeface="Arial"/>
              <a:cs typeface="Arial"/>
              <a:sym typeface="Arial"/>
            </a:endParaRPr>
          </a:p>
          <a:p>
            <a:pPr marL="0" lvl="0" indent="0">
              <a:spcBef>
                <a:spcPts val="541"/>
              </a:spcBef>
              <a:buClr>
                <a:schemeClr val="dk1"/>
              </a:buClr>
              <a:buSzPct val="100000"/>
            </a:pPr>
            <a:r>
              <a:rPr lang="en-US" sz="2800" dirty="0">
                <a:solidFill>
                  <a:schemeClr val="dk1"/>
                </a:solidFill>
                <a:latin typeface="Arial"/>
                <a:ea typeface="Arial"/>
                <a:cs typeface="Arial"/>
                <a:sym typeface="Arial"/>
              </a:rPr>
              <a:t>            </a:t>
            </a:r>
            <a:r>
              <a:rPr lang="en-US" dirty="0">
                <a:solidFill>
                  <a:schemeClr val="dk1"/>
                </a:solidFill>
                <a:latin typeface="Arial"/>
                <a:ea typeface="Arial"/>
                <a:cs typeface="Arial"/>
                <a:sym typeface="Arial"/>
              </a:rPr>
              <a:t> </a:t>
            </a:r>
            <a:r>
              <a:rPr lang="en-US" sz="8800" b="1" dirty="0">
                <a:solidFill>
                  <a:schemeClr val="tx1">
                    <a:lumMod val="95000"/>
                    <a:lumOff val="5000"/>
                  </a:schemeClr>
                </a:solidFill>
              </a:rPr>
              <a:t>Predictive Analytics for Energy Consumption Using XGBoost</a:t>
            </a:r>
            <a:endParaRPr sz="8407" b="1" dirty="0">
              <a:solidFill>
                <a:schemeClr val="tx1">
                  <a:lumMod val="95000"/>
                  <a:lumOff val="5000"/>
                </a:schemeClr>
              </a:solidFill>
              <a:latin typeface="Arial"/>
              <a:ea typeface="Arial"/>
              <a:cs typeface="Arial"/>
              <a:sym typeface="Arial"/>
            </a:endParaRPr>
          </a:p>
        </p:txBody>
      </p:sp>
      <p:sp>
        <p:nvSpPr>
          <p:cNvPr id="98" name="Google Shape;98;p14"/>
          <p:cNvSpPr txBox="1">
            <a:spLocks noGrp="1"/>
          </p:cNvSpPr>
          <p:nvPr>
            <p:ph type="dt" idx="10"/>
          </p:nvPr>
        </p:nvSpPr>
        <p:spPr>
          <a:xfrm>
            <a:off x="457200" y="6356350"/>
            <a:ext cx="2133600" cy="365125"/>
          </a:xfrm>
          <a:prstGeom prst="rect">
            <a:avLst/>
          </a:prstGeom>
          <a:noFill/>
          <a:ln>
            <a:noFill/>
          </a:ln>
          <a:effectLst>
            <a:outerShdw blurRad="50800" dist="50800" dir="5400000" algn="ctr" rotWithShape="0">
              <a:schemeClr val="lt1"/>
            </a:outerShdw>
          </a:effectLst>
        </p:spPr>
        <p:txBody>
          <a:bodyPr spcFirstLastPara="1" wrap="square" lIns="91425" tIns="45700" rIns="91425" bIns="45700" anchor="ctr" anchorCtr="0">
            <a:noAutofit/>
          </a:bodyPr>
          <a:lstStyle/>
          <a:p>
            <a:pPr marL="0" lvl="0" indent="0" algn="l" rtl="0">
              <a:spcBef>
                <a:spcPts val="0"/>
              </a:spcBef>
              <a:spcAft>
                <a:spcPts val="0"/>
              </a:spcAft>
              <a:buNone/>
            </a:pPr>
            <a:r>
              <a:rPr lang="en-US"/>
              <a:t>28 July 2025</a:t>
            </a:r>
            <a:endParaRPr/>
          </a:p>
        </p:txBody>
      </p:sp>
      <p:sp>
        <p:nvSpPr>
          <p:cNvPr id="99" name="Google Shape;99;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 - CSE</a:t>
            </a:r>
            <a:endParaRPr/>
          </a:p>
        </p:txBody>
      </p:sp>
      <p:sp>
        <p:nvSpPr>
          <p:cNvPr id="100" name="Google Shape;100;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a:t>
            </a:fld>
            <a:endParaRPr/>
          </a:p>
        </p:txBody>
      </p:sp>
      <p:pic>
        <p:nvPicPr>
          <p:cNvPr id="101" name="Google Shape;101;p14"/>
          <p:cNvPicPr preferRelativeResize="0"/>
          <p:nvPr/>
        </p:nvPicPr>
        <p:blipFill rotWithShape="1">
          <a:blip r:embed="rId3">
            <a:alphaModFix/>
          </a:blip>
          <a:srcRect/>
          <a:stretch/>
        </p:blipFill>
        <p:spPr>
          <a:xfrm>
            <a:off x="304800" y="136525"/>
            <a:ext cx="8610600" cy="1696686"/>
          </a:xfrm>
          <a:prstGeom prst="rect">
            <a:avLst/>
          </a:prstGeom>
          <a:noFill/>
          <a:ln w="9525" cap="flat" cmpd="sng">
            <a:solidFill>
              <a:srgbClr val="002060"/>
            </a:solidFill>
            <a:prstDash val="solid"/>
            <a:round/>
            <a:headEnd type="none" w="sm" len="sm"/>
            <a:tailEnd type="none" w="sm" len="sm"/>
          </a:ln>
        </p:spPr>
      </p:pic>
      <p:sp>
        <p:nvSpPr>
          <p:cNvPr id="102" name="Google Shape;102;p14"/>
          <p:cNvSpPr txBox="1"/>
          <p:nvPr/>
        </p:nvSpPr>
        <p:spPr>
          <a:xfrm>
            <a:off x="1066800" y="1833211"/>
            <a:ext cx="65532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3" name="Google Shape;103;p14"/>
          <p:cNvSpPr txBox="1"/>
          <p:nvPr/>
        </p:nvSpPr>
        <p:spPr>
          <a:xfrm>
            <a:off x="457200" y="4901084"/>
            <a:ext cx="8381999" cy="1487883"/>
          </a:xfrm>
          <a:prstGeom prst="rect">
            <a:avLst/>
          </a:prstGeom>
          <a:noFill/>
          <a:ln>
            <a:noFill/>
          </a:ln>
        </p:spPr>
        <p:txBody>
          <a:bodyPr spcFirstLastPara="1" wrap="square" lIns="91425" tIns="45700" rIns="91425" bIns="45700" anchor="t" anchorCtr="0">
            <a:normAutofit lnSpcReduction="10000"/>
          </a:bodyPr>
          <a:lstStyle/>
          <a:p>
            <a:pPr marL="0" marR="0" lvl="0" indent="0" algn="l" rtl="0">
              <a:spcBef>
                <a:spcPts val="0"/>
              </a:spcBef>
              <a:spcAft>
                <a:spcPts val="0"/>
              </a:spcAft>
              <a:buClr>
                <a:schemeClr val="dk1"/>
              </a:buClr>
              <a:buSzPts val="2400"/>
              <a:buFont typeface="Arial"/>
              <a:buNone/>
            </a:pPr>
            <a:r>
              <a:rPr lang="en-US" sz="2400" b="1" u="none" dirty="0">
                <a:solidFill>
                  <a:schemeClr val="dk1"/>
                </a:solidFill>
                <a:latin typeface="Calibri"/>
                <a:ea typeface="Calibri"/>
                <a:cs typeface="Calibri"/>
                <a:sym typeface="Calibri"/>
              </a:rPr>
              <a:t>PROJECT STUDENTS                                                     GUIDE</a:t>
            </a:r>
            <a:endParaRPr sz="2400" b="1" u="none" dirty="0">
              <a:solidFill>
                <a:schemeClr val="dk1"/>
              </a:solidFill>
              <a:latin typeface="Calibri"/>
              <a:ea typeface="Calibri"/>
              <a:cs typeface="Calibri"/>
              <a:sym typeface="Calibri"/>
            </a:endParaRPr>
          </a:p>
          <a:p>
            <a:pPr lvl="0">
              <a:spcBef>
                <a:spcPts val="400"/>
              </a:spcBef>
              <a:buClr>
                <a:schemeClr val="dk1"/>
              </a:buClr>
              <a:buSzPts val="2000"/>
            </a:pPr>
            <a:r>
              <a:rPr lang="pl-PL" b="1" dirty="0"/>
              <a:t>DWARAMPUDI D V S NARAYANA REDDY</a:t>
            </a:r>
            <a:r>
              <a:rPr lang="en-US" b="1" dirty="0"/>
              <a:t>,                                                 Dr. J. JABEZ ,M.E.,PhD.,</a:t>
            </a:r>
          </a:p>
          <a:p>
            <a:pPr lvl="0">
              <a:spcBef>
                <a:spcPts val="400"/>
              </a:spcBef>
              <a:buClr>
                <a:schemeClr val="dk1"/>
              </a:buClr>
              <a:buSzPts val="2000"/>
            </a:pPr>
            <a:r>
              <a:rPr lang="pl-PL" b="1" dirty="0"/>
              <a:t>42110325</a:t>
            </a:r>
            <a:r>
              <a:rPr lang="en-US" b="1" dirty="0"/>
              <a:t>                                                                                                          Professor,CSE</a:t>
            </a:r>
          </a:p>
          <a:p>
            <a:pPr lvl="0">
              <a:spcBef>
                <a:spcPts val="400"/>
              </a:spcBef>
              <a:buClr>
                <a:schemeClr val="dk1"/>
              </a:buClr>
              <a:buSzPts val="2000"/>
            </a:pPr>
            <a:r>
              <a:rPr lang="en-US" b="1" dirty="0"/>
              <a:t>DUBAGUNTLA VENU LAKSHMI SAI,</a:t>
            </a:r>
          </a:p>
          <a:p>
            <a:pPr lvl="0">
              <a:spcBef>
                <a:spcPts val="400"/>
              </a:spcBef>
              <a:buClr>
                <a:schemeClr val="dk1"/>
              </a:buClr>
              <a:buSzPts val="2000"/>
            </a:pPr>
            <a:r>
              <a:rPr lang="en-US" b="1" u="none" dirty="0">
                <a:solidFill>
                  <a:schemeClr val="dk1"/>
                </a:solidFill>
                <a:latin typeface="Calibri"/>
                <a:ea typeface="Calibri"/>
                <a:cs typeface="Calibri"/>
                <a:sym typeface="Calibri"/>
              </a:rPr>
              <a:t>42110321</a:t>
            </a:r>
            <a:endParaRPr b="1" u="none" dirty="0">
              <a:solidFill>
                <a:schemeClr val="dk1"/>
              </a:solidFill>
              <a:latin typeface="Calibri"/>
              <a:ea typeface="Calibri"/>
              <a:cs typeface="Calibri"/>
              <a:sym typeface="Calibri"/>
            </a:endParaRPr>
          </a:p>
        </p:txBody>
      </p:sp>
      <p:sp>
        <p:nvSpPr>
          <p:cNvPr id="104" name="Google Shape;104;p14"/>
          <p:cNvSpPr txBox="1"/>
          <p:nvPr/>
        </p:nvSpPr>
        <p:spPr>
          <a:xfrm>
            <a:off x="800100" y="2073257"/>
            <a:ext cx="7689559" cy="885409"/>
          </a:xfrm>
          <a:prstGeom prst="rect">
            <a:avLst/>
          </a:prstGeom>
          <a:noFill/>
          <a:ln>
            <a:noFill/>
          </a:ln>
        </p:spPr>
        <p:txBody>
          <a:bodyPr spcFirstLastPara="1" wrap="square" lIns="91425" tIns="45700" rIns="91425" bIns="45700" anchor="t" anchorCtr="0">
            <a:noAutofit/>
          </a:bodyPr>
          <a:lstStyle/>
          <a:p>
            <a:pPr algn="ctr"/>
            <a:r>
              <a:rPr lang="en-US" sz="2000" b="1" dirty="0">
                <a:solidFill>
                  <a:schemeClr val="tx1"/>
                </a:solidFill>
                <a:latin typeface="Arial" pitchFamily="34" charset="0"/>
                <a:cs typeface="Arial" pitchFamily="34" charset="0"/>
              </a:rPr>
              <a:t>DEPARTMENT OF COMPUTER SCIENCE AND ENGINEERING</a:t>
            </a:r>
          </a:p>
          <a:p>
            <a:pPr algn="ctr"/>
            <a:r>
              <a:rPr lang="en-US" sz="2000" b="1" dirty="0">
                <a:solidFill>
                  <a:schemeClr val="tx1"/>
                </a:solidFill>
                <a:latin typeface="Arial" pitchFamily="34" charset="0"/>
                <a:cs typeface="Arial" pitchFamily="34" charset="0"/>
              </a:rPr>
              <a:t>PROJECT PHASE-II</a:t>
            </a:r>
          </a:p>
          <a:p>
            <a:pPr algn="ctr"/>
            <a:r>
              <a:rPr lang="en-US" sz="2000" b="1" dirty="0">
                <a:solidFill>
                  <a:schemeClr val="tx1"/>
                </a:solidFill>
                <a:latin typeface="Arial" pitchFamily="34" charset="0"/>
                <a:cs typeface="Arial" pitchFamily="34" charset="0"/>
              </a:rPr>
              <a:t>REVIEW1</a:t>
            </a:r>
            <a:endParaRPr lang="en-US" sz="2000" b="1" dirty="0">
              <a:solidFill>
                <a:srgbClr val="7030A0"/>
              </a:solidFill>
              <a:latin typeface="Arial" pitchFamily="34" charset="0"/>
              <a:cs typeface="Arial"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5"/>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AGENDA</a:t>
            </a:r>
            <a:endParaRPr/>
          </a:p>
        </p:txBody>
      </p:sp>
      <p:sp>
        <p:nvSpPr>
          <p:cNvPr id="110" name="Google Shape;110;p15"/>
          <p:cNvSpPr txBox="1">
            <a:spLocks noGrp="1"/>
          </p:cNvSpPr>
          <p:nvPr>
            <p:ph type="body" idx="1"/>
          </p:nvPr>
        </p:nvSpPr>
        <p:spPr>
          <a:xfrm>
            <a:off x="457200" y="1600993"/>
            <a:ext cx="8229600" cy="4525963"/>
          </a:xfrm>
          <a:prstGeom prst="rect">
            <a:avLst/>
          </a:prstGeom>
          <a:noFill/>
          <a:ln>
            <a:noFill/>
          </a:ln>
        </p:spPr>
        <p:txBody>
          <a:bodyPr spcFirstLastPara="1" wrap="square" lIns="91425" tIns="45700" rIns="91425" bIns="45700" anchor="t" anchorCtr="0">
            <a:normAutofit lnSpcReduction="10000"/>
          </a:bodyPr>
          <a:lstStyle/>
          <a:p>
            <a:pPr marL="342900" lvl="0" indent="-342900" algn="l" rtl="0">
              <a:spcBef>
                <a:spcPts val="0"/>
              </a:spcBef>
              <a:spcAft>
                <a:spcPts val="0"/>
              </a:spcAft>
              <a:buClr>
                <a:schemeClr val="dk1"/>
              </a:buClr>
              <a:buSzPts val="3200"/>
              <a:buChar char="•"/>
            </a:pPr>
            <a:r>
              <a:rPr lang="en-US" dirty="0"/>
              <a:t>Abstract</a:t>
            </a:r>
            <a:endParaRPr dirty="0"/>
          </a:p>
          <a:p>
            <a:pPr marL="342900" lvl="0" indent="-342900" algn="l" rtl="0">
              <a:spcBef>
                <a:spcPts val="640"/>
              </a:spcBef>
              <a:spcAft>
                <a:spcPts val="0"/>
              </a:spcAft>
              <a:buClr>
                <a:schemeClr val="dk1"/>
              </a:buClr>
              <a:buSzPts val="3200"/>
              <a:buChar char="•"/>
            </a:pPr>
            <a:r>
              <a:rPr lang="en-US" dirty="0"/>
              <a:t>Objective(s)</a:t>
            </a:r>
            <a:endParaRPr dirty="0"/>
          </a:p>
          <a:p>
            <a:pPr marL="342900" lvl="0" indent="-342900" algn="l" rtl="0">
              <a:spcBef>
                <a:spcPts val="640"/>
              </a:spcBef>
              <a:spcAft>
                <a:spcPts val="0"/>
              </a:spcAft>
              <a:buClr>
                <a:schemeClr val="dk1"/>
              </a:buClr>
              <a:buSzPts val="3200"/>
              <a:buChar char="•"/>
            </a:pPr>
            <a:r>
              <a:rPr lang="en-US" dirty="0"/>
              <a:t>Literature Survey</a:t>
            </a:r>
            <a:endParaRPr dirty="0"/>
          </a:p>
          <a:p>
            <a:pPr marL="342900" lvl="0" indent="-342900" algn="l" rtl="0">
              <a:spcBef>
                <a:spcPts val="640"/>
              </a:spcBef>
              <a:spcAft>
                <a:spcPts val="0"/>
              </a:spcAft>
              <a:buClr>
                <a:schemeClr val="dk1"/>
              </a:buClr>
              <a:buSzPts val="3200"/>
              <a:buChar char="•"/>
            </a:pPr>
            <a:r>
              <a:rPr lang="en-US" dirty="0"/>
              <a:t>Inferences from Literature Survey</a:t>
            </a:r>
            <a:endParaRPr dirty="0"/>
          </a:p>
          <a:p>
            <a:pPr marL="342900" lvl="0" indent="-342900" algn="l" rtl="0">
              <a:spcBef>
                <a:spcPts val="640"/>
              </a:spcBef>
              <a:spcAft>
                <a:spcPts val="0"/>
              </a:spcAft>
              <a:buClr>
                <a:schemeClr val="dk1"/>
              </a:buClr>
              <a:buSzPts val="3200"/>
              <a:buChar char="•"/>
            </a:pPr>
            <a:r>
              <a:rPr lang="en-US" dirty="0"/>
              <a:t>Proposed System</a:t>
            </a:r>
          </a:p>
          <a:p>
            <a:pPr marL="342900" lvl="0">
              <a:spcBef>
                <a:spcPts val="640"/>
              </a:spcBef>
              <a:buSzPts val="3200"/>
            </a:pPr>
            <a:r>
              <a:rPr lang="en-US" dirty="0"/>
              <a:t>Modules</a:t>
            </a:r>
          </a:p>
          <a:p>
            <a:pPr marL="342900" lvl="0">
              <a:spcBef>
                <a:spcPts val="640"/>
              </a:spcBef>
              <a:buSzPts val="3200"/>
            </a:pPr>
            <a:r>
              <a:rPr lang="en-US" dirty="0"/>
              <a:t>Result and Discussion</a:t>
            </a:r>
          </a:p>
          <a:p>
            <a:pPr marL="342900" lvl="0" indent="-342900" algn="l" rtl="0">
              <a:spcBef>
                <a:spcPts val="640"/>
              </a:spcBef>
              <a:spcAft>
                <a:spcPts val="0"/>
              </a:spcAft>
              <a:buClr>
                <a:schemeClr val="dk1"/>
              </a:buClr>
              <a:buSzPts val="3200"/>
              <a:buChar char="•"/>
            </a:pPr>
            <a:r>
              <a:rPr lang="en-US" dirty="0"/>
              <a:t>References</a:t>
            </a:r>
            <a:endParaRPr dirty="0"/>
          </a:p>
          <a:p>
            <a:pPr marL="342900" lvl="0" indent="-139700" algn="l" rtl="0">
              <a:spcBef>
                <a:spcPts val="640"/>
              </a:spcBef>
              <a:spcAft>
                <a:spcPts val="0"/>
              </a:spcAft>
              <a:buClr>
                <a:schemeClr val="dk1"/>
              </a:buClr>
              <a:buSzPts val="3200"/>
              <a:buNone/>
            </a:pPr>
            <a:endParaRPr dirty="0"/>
          </a:p>
          <a:p>
            <a:pPr marL="342900" lvl="0" indent="-139700" algn="l" rtl="0">
              <a:spcBef>
                <a:spcPts val="640"/>
              </a:spcBef>
              <a:spcAft>
                <a:spcPts val="0"/>
              </a:spcAft>
              <a:buClr>
                <a:schemeClr val="dk1"/>
              </a:buClr>
              <a:buSzPts val="3200"/>
              <a:buNone/>
            </a:pPr>
            <a:endParaRPr dirty="0"/>
          </a:p>
          <a:p>
            <a:pPr marL="342900" lvl="0" indent="-139700" algn="l" rtl="0">
              <a:spcBef>
                <a:spcPts val="640"/>
              </a:spcBef>
              <a:spcAft>
                <a:spcPts val="0"/>
              </a:spcAft>
              <a:buClr>
                <a:schemeClr val="dk1"/>
              </a:buClr>
              <a:buSzPts val="3200"/>
              <a:buNone/>
            </a:pPr>
            <a:endParaRPr dirty="0"/>
          </a:p>
        </p:txBody>
      </p:sp>
      <p:sp>
        <p:nvSpPr>
          <p:cNvPr id="111" name="Google Shape;111;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28 July 2025</a:t>
            </a:r>
            <a:endParaRPr/>
          </a:p>
        </p:txBody>
      </p:sp>
      <p:sp>
        <p:nvSpPr>
          <p:cNvPr id="112" name="Google Shape;112;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 - CSE</a:t>
            </a:r>
            <a:endParaRPr/>
          </a:p>
        </p:txBody>
      </p:sp>
      <p:sp>
        <p:nvSpPr>
          <p:cNvPr id="113" name="Google Shape;113;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6"/>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600"/>
              <a:buFont typeface="Calibri"/>
              <a:buNone/>
            </a:pPr>
            <a:r>
              <a:rPr lang="en-US" dirty="0"/>
              <a:t>ABSTRACT</a:t>
            </a:r>
            <a:endParaRPr dirty="0"/>
          </a:p>
        </p:txBody>
      </p:sp>
      <p:sp>
        <p:nvSpPr>
          <p:cNvPr id="119" name="Google Shape;119;p16"/>
          <p:cNvSpPr txBox="1">
            <a:spLocks noGrp="1"/>
          </p:cNvSpPr>
          <p:nvPr>
            <p:ph type="body" idx="1"/>
          </p:nvPr>
        </p:nvSpPr>
        <p:spPr>
          <a:xfrm>
            <a:off x="457200" y="1658175"/>
            <a:ext cx="8339100" cy="3733800"/>
          </a:xfrm>
          <a:prstGeom prst="rect">
            <a:avLst/>
          </a:prstGeom>
          <a:noFill/>
          <a:ln>
            <a:noFill/>
          </a:ln>
        </p:spPr>
        <p:txBody>
          <a:bodyPr spcFirstLastPara="1" wrap="square" lIns="91425" tIns="45700" rIns="91425" bIns="45700" anchor="t" anchorCtr="0">
            <a:noAutofit/>
          </a:bodyPr>
          <a:lstStyle/>
          <a:p>
            <a:pPr marL="0" lvl="0" indent="0" algn="just">
              <a:buNone/>
            </a:pPr>
            <a:r>
              <a:rPr lang="en-US" sz="2800" dirty="0"/>
              <a:t>This project aims to solve the growing challenge of forecasting energy consumption due to increasing global demand, climate variation, and the need for sustainable energy use. Accurate energy prediction helps reduce waste, enhance efficiency, and ensure proper energy distribution. To tackle this, we use XGBoost (Extreme Gradient Boosting)—a powerful and scalable machine learning algorithm known for handling complex, non-linear patterns in data.</a:t>
            </a:r>
            <a:endParaRPr sz="2700" dirty="0"/>
          </a:p>
        </p:txBody>
      </p:sp>
      <p:sp>
        <p:nvSpPr>
          <p:cNvPr id="120" name="Google Shape;120;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28 July 2025</a:t>
            </a:r>
            <a:endParaRPr/>
          </a:p>
        </p:txBody>
      </p:sp>
      <p:sp>
        <p:nvSpPr>
          <p:cNvPr id="121" name="Google Shape;121;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 - CSE</a:t>
            </a:r>
            <a:endParaRPr/>
          </a:p>
        </p:txBody>
      </p:sp>
      <p:sp>
        <p:nvSpPr>
          <p:cNvPr id="122" name="Google Shape;122;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17"/>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OBJECTIVE(S)</a:t>
            </a:r>
            <a:endParaRPr dirty="0"/>
          </a:p>
        </p:txBody>
      </p:sp>
      <p:sp>
        <p:nvSpPr>
          <p:cNvPr id="128" name="Google Shape;128;p1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indent="-457200" algn="just">
              <a:spcBef>
                <a:spcPts val="1200"/>
              </a:spcBef>
              <a:buSzPct val="100000"/>
              <a:buFont typeface="Arial" panose="020B0604020202020204" pitchFamily="34" charset="0"/>
              <a:buChar char="•"/>
            </a:pPr>
            <a:r>
              <a:rPr lang="en-US" sz="2800" dirty="0"/>
              <a:t>To develop a high-accuracy predictive model using XGBoost (Extreme Gradient Boosting).</a:t>
            </a:r>
          </a:p>
          <a:p>
            <a:pPr indent="-457200" algn="just">
              <a:spcBef>
                <a:spcPts val="1200"/>
              </a:spcBef>
              <a:buSzPct val="100000"/>
              <a:buFont typeface="Arial" panose="020B0604020202020204" pitchFamily="34" charset="0"/>
              <a:buChar char="•"/>
            </a:pPr>
            <a:r>
              <a:rPr lang="en-US" sz="2800" dirty="0"/>
              <a:t>Forecast energy consumption based on environmental and operational variables.</a:t>
            </a:r>
          </a:p>
          <a:p>
            <a:pPr indent="-457200" algn="just">
              <a:spcBef>
                <a:spcPts val="1200"/>
              </a:spcBef>
              <a:buSzPct val="100000"/>
              <a:buFont typeface="Arial" panose="020B0604020202020204" pitchFamily="34" charset="0"/>
              <a:buChar char="•"/>
            </a:pPr>
            <a:r>
              <a:rPr lang="en-US" sz="2800" dirty="0"/>
              <a:t>Improved energy efficiency and reduced waste lead to cost savings for utility companies and consumers.</a:t>
            </a:r>
          </a:p>
          <a:p>
            <a:pPr marL="0" indent="0" algn="just">
              <a:spcBef>
                <a:spcPts val="1200"/>
              </a:spcBef>
              <a:buSzPct val="100000"/>
              <a:buNone/>
            </a:pPr>
            <a:endParaRPr lang="en-US" sz="2800" dirty="0"/>
          </a:p>
          <a:p>
            <a:pPr marL="0" lvl="0" indent="0" algn="l" rtl="0">
              <a:spcBef>
                <a:spcPts val="1200"/>
              </a:spcBef>
              <a:spcAft>
                <a:spcPts val="0"/>
              </a:spcAft>
              <a:buClr>
                <a:schemeClr val="dk1"/>
              </a:buClr>
              <a:buSzPct val="100000"/>
              <a:buNone/>
            </a:pPr>
            <a:endParaRPr dirty="0"/>
          </a:p>
        </p:txBody>
      </p:sp>
      <p:sp>
        <p:nvSpPr>
          <p:cNvPr id="129" name="Google Shape;129;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28 July 2025</a:t>
            </a:r>
            <a:endParaRPr/>
          </a:p>
        </p:txBody>
      </p:sp>
      <p:sp>
        <p:nvSpPr>
          <p:cNvPr id="130" name="Google Shape;130;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 - CSE</a:t>
            </a:r>
            <a:endParaRPr/>
          </a:p>
        </p:txBody>
      </p:sp>
      <p:sp>
        <p:nvSpPr>
          <p:cNvPr id="131" name="Google Shape;131;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LITERATURE </a:t>
            </a:r>
            <a:r>
              <a:rPr lang="en-US" dirty="0" smtClean="0"/>
              <a:t>SURVEY(1/5</a:t>
            </a:r>
            <a:r>
              <a:rPr lang="en-US" dirty="0" smtClean="0"/>
              <a:t>)</a:t>
            </a:r>
            <a:endParaRPr lang="en-US" dirty="0"/>
          </a:p>
        </p:txBody>
      </p:sp>
      <p:sp>
        <p:nvSpPr>
          <p:cNvPr id="3" name="Text Placeholder 2"/>
          <p:cNvSpPr>
            <a:spLocks noGrp="1"/>
          </p:cNvSpPr>
          <p:nvPr>
            <p:ph type="body" idx="1"/>
          </p:nvPr>
        </p:nvSpPr>
        <p:spPr/>
        <p:txBody>
          <a:bodyPr>
            <a:normAutofit lnSpcReduction="10000"/>
          </a:bodyPr>
          <a:lstStyle/>
          <a:p>
            <a:r>
              <a:rPr lang="pt-BR" dirty="0" smtClean="0"/>
              <a:t>L. Gómez, R. A. Reátegui, M. </a:t>
            </a:r>
            <a:r>
              <a:rPr lang="pt-BR" dirty="0" smtClean="0"/>
              <a:t>Ortega</a:t>
            </a:r>
            <a:r>
              <a:rPr lang="en-US" dirty="0" smtClean="0"/>
              <a:t> worked on </a:t>
            </a:r>
            <a:r>
              <a:rPr lang="en-US" dirty="0" smtClean="0"/>
              <a:t>Urban Energy Consumption with Weather Data </a:t>
            </a:r>
            <a:r>
              <a:rPr lang="en-US" dirty="0" smtClean="0"/>
              <a:t>Fusion and named their title as </a:t>
            </a:r>
            <a:r>
              <a:rPr lang="en-US" dirty="0" smtClean="0"/>
              <a:t>Machine Learning-Based Prediction of Urban Energy Consumption with Weather Data </a:t>
            </a:r>
            <a:r>
              <a:rPr lang="en-US" dirty="0" smtClean="0"/>
              <a:t>Fusion.</a:t>
            </a:r>
          </a:p>
          <a:p>
            <a:r>
              <a:rPr lang="en-IN" dirty="0" smtClean="0"/>
              <a:t>Their main key things in research were </a:t>
            </a:r>
            <a:r>
              <a:rPr lang="en-US" dirty="0" smtClean="0"/>
              <a:t>Machine Learning-Based Prediction of Urban Energy Consumption with Weather Data Fusion</a:t>
            </a:r>
          </a:p>
          <a:p>
            <a:endParaRPr lang="en-US" dirty="0" smtClean="0"/>
          </a:p>
          <a:p>
            <a:endParaRPr lang="en-US" dirty="0" smtClean="0"/>
          </a:p>
          <a:p>
            <a:endParaRPr lang="en-US" dirty="0" smtClean="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LITERATURE </a:t>
            </a:r>
            <a:r>
              <a:rPr lang="en-US" dirty="0" smtClean="0"/>
              <a:t>SURVEY(2/5</a:t>
            </a:r>
            <a:r>
              <a:rPr lang="en-US" dirty="0" smtClean="0"/>
              <a:t>)</a:t>
            </a:r>
            <a:endParaRPr lang="en-US" dirty="0"/>
          </a:p>
        </p:txBody>
      </p:sp>
      <p:sp>
        <p:nvSpPr>
          <p:cNvPr id="3" name="Text Placeholder 2"/>
          <p:cNvSpPr>
            <a:spLocks noGrp="1"/>
          </p:cNvSpPr>
          <p:nvPr>
            <p:ph type="body" idx="1"/>
          </p:nvPr>
        </p:nvSpPr>
        <p:spPr/>
        <p:txBody>
          <a:bodyPr>
            <a:normAutofit lnSpcReduction="10000"/>
          </a:bodyPr>
          <a:lstStyle/>
          <a:p>
            <a:r>
              <a:rPr lang="en-IN" dirty="0" smtClean="0"/>
              <a:t>R. </a:t>
            </a:r>
            <a:r>
              <a:rPr lang="en-IN" dirty="0" err="1" smtClean="0"/>
              <a:t>Prakash</a:t>
            </a:r>
            <a:r>
              <a:rPr lang="en-IN" dirty="0" smtClean="0"/>
              <a:t> and S</a:t>
            </a:r>
            <a:r>
              <a:rPr lang="en-IN" dirty="0" smtClean="0"/>
              <a:t>. </a:t>
            </a:r>
            <a:r>
              <a:rPr lang="en-IN" dirty="0" smtClean="0"/>
              <a:t>Nair </a:t>
            </a:r>
            <a:r>
              <a:rPr lang="en-US" dirty="0" smtClean="0"/>
              <a:t>Developed a load forecasting model using </a:t>
            </a:r>
            <a:r>
              <a:rPr lang="en-US" dirty="0" err="1" smtClean="0"/>
              <a:t>XGBoost</a:t>
            </a:r>
            <a:r>
              <a:rPr lang="en-US" dirty="0" smtClean="0"/>
              <a:t>. </a:t>
            </a:r>
            <a:r>
              <a:rPr lang="en-US" dirty="0" smtClean="0"/>
              <a:t>They had named as Energy </a:t>
            </a:r>
            <a:r>
              <a:rPr lang="en-US" dirty="0" smtClean="0"/>
              <a:t>Consumption Prediction Using </a:t>
            </a:r>
            <a:r>
              <a:rPr lang="en-US" dirty="0" err="1" smtClean="0"/>
              <a:t>XGBoost</a:t>
            </a:r>
            <a:r>
              <a:rPr lang="en-US" dirty="0" smtClean="0"/>
              <a:t> and Time-Series Feature </a:t>
            </a:r>
            <a:r>
              <a:rPr lang="en-US" dirty="0" smtClean="0"/>
              <a:t>Engineering</a:t>
            </a:r>
            <a:endParaRPr lang="en-US" dirty="0" smtClean="0"/>
          </a:p>
          <a:p>
            <a:pPr marL="285750" indent="-285750">
              <a:buFont typeface="Arial" panose="020B0604020202020204" pitchFamily="34" charset="0"/>
              <a:buChar char="•"/>
            </a:pPr>
            <a:r>
              <a:rPr lang="en-IN" dirty="0" smtClean="0"/>
              <a:t> </a:t>
            </a:r>
            <a:r>
              <a:rPr lang="en-US" dirty="0" smtClean="0"/>
              <a:t>Incorporated time-series feature engineering to improve prediction </a:t>
            </a:r>
            <a:r>
              <a:rPr lang="en-US" dirty="0" err="1" smtClean="0"/>
              <a:t>accuracy.Demonstrated</a:t>
            </a:r>
            <a:r>
              <a:rPr lang="en-US" dirty="0" smtClean="0"/>
              <a:t> </a:t>
            </a:r>
            <a:r>
              <a:rPr lang="en-US" dirty="0" smtClean="0"/>
              <a:t>superior performance compared to baseline </a:t>
            </a:r>
            <a:r>
              <a:rPr lang="en-US" dirty="0" err="1" smtClean="0"/>
              <a:t>models.and</a:t>
            </a:r>
            <a:r>
              <a:rPr lang="en-US" dirty="0" smtClean="0"/>
              <a:t> published it in year 2022</a:t>
            </a:r>
            <a:endParaRPr lang="en-US" dirty="0" smtClean="0"/>
          </a:p>
          <a:p>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LITERATURE SURVEY(3/5)</a:t>
            </a:r>
            <a:endParaRPr lang="en-US" dirty="0"/>
          </a:p>
        </p:txBody>
      </p:sp>
      <p:sp>
        <p:nvSpPr>
          <p:cNvPr id="3" name="Text Placeholder 2"/>
          <p:cNvSpPr>
            <a:spLocks noGrp="1"/>
          </p:cNvSpPr>
          <p:nvPr>
            <p:ph type="body" idx="1"/>
          </p:nvPr>
        </p:nvSpPr>
        <p:spPr>
          <a:xfrm>
            <a:off x="457200" y="1600200"/>
            <a:ext cx="8229600" cy="4893906"/>
          </a:xfrm>
        </p:spPr>
        <p:txBody>
          <a:bodyPr>
            <a:normAutofit fontScale="92500" lnSpcReduction="10000"/>
          </a:bodyPr>
          <a:lstStyle/>
          <a:p>
            <a:r>
              <a:rPr lang="en-IN" dirty="0" smtClean="0"/>
              <a:t>A. Torres, A. </a:t>
            </a:r>
            <a:r>
              <a:rPr lang="en-IN" dirty="0" err="1" smtClean="0"/>
              <a:t>Colominas</a:t>
            </a:r>
            <a:r>
              <a:rPr lang="en-IN" dirty="0" smtClean="0"/>
              <a:t>, J. </a:t>
            </a:r>
            <a:r>
              <a:rPr lang="en-IN" dirty="0" err="1" smtClean="0"/>
              <a:t>Schlotthauer</a:t>
            </a:r>
            <a:r>
              <a:rPr lang="en-IN" dirty="0" smtClean="0"/>
              <a:t>, M. E. </a:t>
            </a:r>
            <a:r>
              <a:rPr lang="en-IN" dirty="0" smtClean="0"/>
              <a:t>Torres worked on </a:t>
            </a:r>
            <a:r>
              <a:rPr lang="en-US" dirty="0" smtClean="0"/>
              <a:t>Forecasting Electrical </a:t>
            </a:r>
            <a:r>
              <a:rPr lang="en-US" dirty="0" smtClean="0"/>
              <a:t>Demand and their paper title was </a:t>
            </a:r>
            <a:r>
              <a:rPr lang="en-US" dirty="0" smtClean="0"/>
              <a:t>An Application of Ensemble Machine Learning for Forecasting Electrical </a:t>
            </a:r>
            <a:r>
              <a:rPr lang="en-US" dirty="0" smtClean="0"/>
              <a:t>Demand.</a:t>
            </a:r>
          </a:p>
          <a:p>
            <a:pPr marL="285750" indent="-285750">
              <a:buFont typeface="Arial" panose="020B0604020202020204" pitchFamily="34" charset="0"/>
              <a:buChar char="•"/>
            </a:pPr>
            <a:r>
              <a:rPr lang="en-US" dirty="0" smtClean="0"/>
              <a:t>There Key Contributions were Applied </a:t>
            </a:r>
            <a:r>
              <a:rPr lang="en-US" dirty="0" smtClean="0"/>
              <a:t>ensemble machine learning methods for electrical load </a:t>
            </a:r>
            <a:r>
              <a:rPr lang="en-US" dirty="0" smtClean="0"/>
              <a:t>forecasting &amp; Demonstrated </a:t>
            </a:r>
            <a:r>
              <a:rPr lang="en-US" dirty="0" smtClean="0"/>
              <a:t>improved accuracy over single-model </a:t>
            </a:r>
            <a:r>
              <a:rPr lang="en-US" dirty="0" smtClean="0"/>
              <a:t>approaches &amp; Validated </a:t>
            </a:r>
            <a:r>
              <a:rPr lang="en-US" dirty="0" smtClean="0"/>
              <a:t>the approach using real electricity demand datasets</a:t>
            </a:r>
            <a:r>
              <a:rPr lang="en-US" dirty="0" smtClean="0"/>
              <a:t>.</a:t>
            </a:r>
          </a:p>
          <a:p>
            <a:pPr marL="285750" indent="-285750">
              <a:buFont typeface="Arial" panose="020B0604020202020204" pitchFamily="34" charset="0"/>
              <a:buChar char="•"/>
            </a:pPr>
            <a:r>
              <a:rPr lang="en-IN" dirty="0" smtClean="0"/>
              <a:t>They had published in year 2019.</a:t>
            </a:r>
            <a:endParaRPr lang="en-US" dirty="0" smtClean="0"/>
          </a:p>
          <a:p>
            <a:endParaRPr lang="en-US" dirty="0" smtClean="0"/>
          </a:p>
          <a:p>
            <a:endParaRPr lang="en-US" dirty="0" smtClean="0"/>
          </a:p>
          <a:p>
            <a:endParaRPr lang="en-US" dirty="0" smtClean="0"/>
          </a:p>
          <a:p>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LITERATURE SURVEY(4/5)</a:t>
            </a:r>
            <a:endParaRPr lang="en-US" dirty="0"/>
          </a:p>
        </p:txBody>
      </p:sp>
      <p:sp>
        <p:nvSpPr>
          <p:cNvPr id="3" name="Text Placeholder 2"/>
          <p:cNvSpPr>
            <a:spLocks noGrp="1"/>
          </p:cNvSpPr>
          <p:nvPr>
            <p:ph type="body" idx="1"/>
          </p:nvPr>
        </p:nvSpPr>
        <p:spPr/>
        <p:txBody>
          <a:bodyPr>
            <a:normAutofit fontScale="85000" lnSpcReduction="10000"/>
          </a:bodyPr>
          <a:lstStyle/>
          <a:p>
            <a:r>
              <a:rPr lang="en-US" dirty="0" smtClean="0"/>
              <a:t>W. Kong, Z. Y. Dong, D. J. Hill, F. </a:t>
            </a:r>
            <a:r>
              <a:rPr lang="en-US" dirty="0" err="1" smtClean="0"/>
              <a:t>Luo</a:t>
            </a:r>
            <a:r>
              <a:rPr lang="en-US" dirty="0" smtClean="0"/>
              <a:t>, X. </a:t>
            </a:r>
            <a:r>
              <a:rPr lang="en-US" dirty="0" smtClean="0"/>
              <a:t>Ma worked on </a:t>
            </a:r>
            <a:r>
              <a:rPr lang="en-US" dirty="0" smtClean="0"/>
              <a:t>Forecasting Based on </a:t>
            </a:r>
            <a:r>
              <a:rPr lang="en-US" dirty="0" smtClean="0"/>
              <a:t>LSTM and named their paper as </a:t>
            </a:r>
            <a:r>
              <a:rPr lang="en-US" dirty="0" smtClean="0"/>
              <a:t>Short-Term Residential Load Forecasting Based on LSTM Recurrent Neural </a:t>
            </a:r>
            <a:r>
              <a:rPr lang="en-US" dirty="0" smtClean="0"/>
              <a:t>Network.</a:t>
            </a:r>
          </a:p>
          <a:p>
            <a:pPr marL="285750" indent="-285750">
              <a:buFont typeface="Arial" panose="020B0604020202020204" pitchFamily="34" charset="0"/>
              <a:buChar char="•"/>
            </a:pPr>
            <a:r>
              <a:rPr lang="en-US" dirty="0" smtClean="0"/>
              <a:t>There Key Contributions were </a:t>
            </a:r>
            <a:r>
              <a:rPr lang="en-US" dirty="0" smtClean="0"/>
              <a:t>Introduced LSTM networks for residential load </a:t>
            </a:r>
            <a:r>
              <a:rPr lang="en-US" dirty="0" smtClean="0"/>
              <a:t>forecasting &amp; Captured </a:t>
            </a:r>
            <a:r>
              <a:rPr lang="en-US" dirty="0" smtClean="0"/>
              <a:t>temporal dependencies in electricity usage </a:t>
            </a:r>
            <a:r>
              <a:rPr lang="en-US" dirty="0" smtClean="0"/>
              <a:t>data &amp; Achieved </a:t>
            </a:r>
            <a:r>
              <a:rPr lang="en-US" dirty="0" smtClean="0"/>
              <a:t>better performance than conventional neural networks and statistical </a:t>
            </a:r>
            <a:r>
              <a:rPr lang="en-US" dirty="0" err="1" smtClean="0"/>
              <a:t>models.They</a:t>
            </a:r>
            <a:r>
              <a:rPr lang="en-US" dirty="0" smtClean="0"/>
              <a:t> had published their </a:t>
            </a:r>
            <a:r>
              <a:rPr lang="en-US" dirty="0" err="1" smtClean="0"/>
              <a:t>reaserch</a:t>
            </a:r>
            <a:r>
              <a:rPr lang="en-US" dirty="0" smtClean="0"/>
              <a:t> in 2019. </a:t>
            </a:r>
            <a:endParaRPr lang="en-IN" dirty="0" smtClean="0"/>
          </a:p>
          <a:p>
            <a:endParaRPr lang="en-IN" dirty="0" smtClean="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LITERATURE SURVEY(5/5)</a:t>
            </a:r>
            <a:endParaRPr lang="en-US" dirty="0"/>
          </a:p>
        </p:txBody>
      </p:sp>
      <p:sp>
        <p:nvSpPr>
          <p:cNvPr id="3" name="Text Placeholder 2"/>
          <p:cNvSpPr>
            <a:spLocks noGrp="1"/>
          </p:cNvSpPr>
          <p:nvPr>
            <p:ph type="body" idx="1"/>
          </p:nvPr>
        </p:nvSpPr>
        <p:spPr/>
        <p:txBody>
          <a:bodyPr>
            <a:normAutofit fontScale="92500"/>
          </a:bodyPr>
          <a:lstStyle/>
          <a:p>
            <a:pPr lvl="0"/>
            <a:r>
              <a:rPr lang="en-IN" dirty="0" smtClean="0">
                <a:solidFill>
                  <a:srgbClr val="000000"/>
                </a:solidFill>
                <a:sym typeface="Arial"/>
              </a:rPr>
              <a:t>A. Sharma &amp; N. </a:t>
            </a:r>
            <a:r>
              <a:rPr lang="en-IN" dirty="0" smtClean="0">
                <a:solidFill>
                  <a:srgbClr val="000000"/>
                </a:solidFill>
                <a:sym typeface="Arial"/>
              </a:rPr>
              <a:t>Patel</a:t>
            </a:r>
            <a:r>
              <a:rPr lang="en-US" dirty="0" smtClean="0"/>
              <a:t> in year 2016 worked on </a:t>
            </a:r>
            <a:r>
              <a:rPr lang="en-US" dirty="0" smtClean="0"/>
              <a:t>A Scalable Tree Boosting </a:t>
            </a:r>
            <a:r>
              <a:rPr lang="en-US" dirty="0" smtClean="0"/>
              <a:t>System using </a:t>
            </a:r>
            <a:r>
              <a:rPr lang="en-US" dirty="0" err="1" smtClean="0"/>
              <a:t>XGBoost</a:t>
            </a:r>
            <a:r>
              <a:rPr lang="en-US" dirty="0" smtClean="0"/>
              <a:t> .</a:t>
            </a:r>
          </a:p>
          <a:p>
            <a:pPr marL="285750" indent="-285750">
              <a:buFont typeface="Arial" panose="020B0604020202020204" pitchFamily="34" charset="0"/>
              <a:buChar char="•"/>
            </a:pPr>
            <a:r>
              <a:rPr lang="en-US" dirty="0" smtClean="0"/>
              <a:t>There Key Contributions </a:t>
            </a:r>
            <a:r>
              <a:rPr lang="en-US" dirty="0" smtClean="0"/>
              <a:t>were </a:t>
            </a:r>
            <a:r>
              <a:rPr lang="en-US" dirty="0" smtClean="0"/>
              <a:t>Proposed </a:t>
            </a:r>
            <a:r>
              <a:rPr lang="en-US" dirty="0" err="1" smtClean="0"/>
              <a:t>XGBoost</a:t>
            </a:r>
            <a:r>
              <a:rPr lang="en-US" dirty="0" smtClean="0"/>
              <a:t>, a scalable and efficient gradient boosting </a:t>
            </a:r>
            <a:r>
              <a:rPr lang="en-US" dirty="0" smtClean="0"/>
              <a:t>framework &amp; Optimized </a:t>
            </a:r>
            <a:r>
              <a:rPr lang="en-US" dirty="0" smtClean="0"/>
              <a:t>for speed and performance on large </a:t>
            </a:r>
            <a:r>
              <a:rPr lang="en-US" dirty="0" smtClean="0"/>
              <a:t>datasets &amp; Widely </a:t>
            </a:r>
            <a:r>
              <a:rPr lang="en-US" dirty="0" smtClean="0"/>
              <a:t>adopted in energy forecasting and other regression/classification </a:t>
            </a:r>
            <a:r>
              <a:rPr lang="en-US" dirty="0" smtClean="0"/>
              <a:t>tasks.</a:t>
            </a:r>
            <a:r>
              <a:rPr lang="en-IN" dirty="0" smtClean="0"/>
              <a:t>They had published there research in year  2016.</a:t>
            </a:r>
          </a:p>
          <a:p>
            <a:pPr marL="285750" indent="-285750">
              <a:buFont typeface="Arial" panose="020B0604020202020204" pitchFamily="34" charset="0"/>
              <a:buChar char="•"/>
            </a:pPr>
            <a:endParaRPr lang="en-IN" dirty="0" smtClean="0"/>
          </a:p>
          <a:p>
            <a:pPr lvl="0"/>
            <a:endParaRPr lang="en-US" dirty="0" smtClean="0"/>
          </a:p>
          <a:p>
            <a:pPr lvl="0"/>
            <a:endParaRPr lang="en-IN" dirty="0" smtClean="0">
              <a:solidFill>
                <a:srgbClr val="000000"/>
              </a:solidFill>
              <a:sym typeface="Arial"/>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0"/>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600"/>
              <a:buFont typeface="Calibri"/>
              <a:buNone/>
            </a:pPr>
            <a:r>
              <a:rPr lang="en-US" sz="3600" dirty="0"/>
              <a:t>INFERENCES FROM LITERATURE SURVEY</a:t>
            </a:r>
            <a:endParaRPr dirty="0"/>
          </a:p>
        </p:txBody>
      </p:sp>
      <p:sp>
        <p:nvSpPr>
          <p:cNvPr id="155" name="Google Shape;155;p20"/>
          <p:cNvSpPr txBox="1">
            <a:spLocks noGrp="1"/>
          </p:cNvSpPr>
          <p:nvPr>
            <p:ph type="body" idx="1"/>
          </p:nvPr>
        </p:nvSpPr>
        <p:spPr>
          <a:xfrm>
            <a:off x="457200" y="1442906"/>
            <a:ext cx="8229600" cy="4805494"/>
          </a:xfrm>
          <a:prstGeom prst="rect">
            <a:avLst/>
          </a:prstGeom>
          <a:noFill/>
          <a:ln>
            <a:noFill/>
          </a:ln>
        </p:spPr>
        <p:txBody>
          <a:bodyPr spcFirstLastPara="1" wrap="square" lIns="91425" tIns="45700" rIns="91425" bIns="45700" anchor="t" anchorCtr="0">
            <a:noAutofit/>
          </a:bodyPr>
          <a:lstStyle/>
          <a:p>
            <a:r>
              <a:rPr lang="en-US" sz="2400" dirty="0"/>
              <a:t>XGBoost is highly effective</a:t>
            </a:r>
          </a:p>
          <a:p>
            <a:r>
              <a:rPr lang="en-US" sz="2400" dirty="0"/>
              <a:t>Environmental and temporal features Gradient Boosting models </a:t>
            </a:r>
          </a:p>
          <a:p>
            <a:r>
              <a:rPr lang="en-US" sz="2400" dirty="0"/>
              <a:t>Time-series forecasting </a:t>
            </a:r>
          </a:p>
          <a:p>
            <a:r>
              <a:rPr lang="en-US" sz="2400" dirty="0"/>
              <a:t>Ensemble learning methods</a:t>
            </a:r>
            <a:endParaRPr dirty="0"/>
          </a:p>
        </p:txBody>
      </p:sp>
      <p:sp>
        <p:nvSpPr>
          <p:cNvPr id="156" name="Google Shape;156;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28 July 2025</a:t>
            </a:r>
            <a:endParaRPr/>
          </a:p>
        </p:txBody>
      </p:sp>
      <p:sp>
        <p:nvSpPr>
          <p:cNvPr id="157" name="Google Shape;157;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 - CSE</a:t>
            </a:r>
            <a:endParaRPr/>
          </a:p>
        </p:txBody>
      </p:sp>
      <p:sp>
        <p:nvSpPr>
          <p:cNvPr id="158" name="Google Shape;158;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3"/>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latin typeface="Calibri" panose="020F0502020204030204" pitchFamily="34" charset="0"/>
                <a:ea typeface="Calibri" panose="020F0502020204030204" pitchFamily="34" charset="0"/>
                <a:cs typeface="Calibri" panose="020F0502020204030204" pitchFamily="34" charset="0"/>
              </a:rPr>
              <a:t>PROPOSED SYSTEM(1/2)</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181" name="Google Shape;181;p2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dk1"/>
              </a:buClr>
              <a:buSzPts val="2400"/>
              <a:buNone/>
            </a:pPr>
            <a:r>
              <a:rPr lang="en-US" sz="2400" b="1" dirty="0">
                <a:latin typeface="Arial"/>
                <a:ea typeface="Arial"/>
                <a:cs typeface="Arial"/>
                <a:sym typeface="Arial"/>
              </a:rPr>
              <a:t>System Architecture</a:t>
            </a:r>
            <a:endParaRPr sz="2400" b="1" dirty="0">
              <a:latin typeface="Arial"/>
              <a:ea typeface="Arial"/>
              <a:cs typeface="Arial"/>
              <a:sym typeface="Arial"/>
            </a:endParaRPr>
          </a:p>
          <a:p>
            <a:pPr marL="0" lvl="0" indent="0" algn="ctr" rtl="0">
              <a:spcBef>
                <a:spcPts val="0"/>
              </a:spcBef>
              <a:spcAft>
                <a:spcPts val="0"/>
              </a:spcAft>
              <a:buClr>
                <a:schemeClr val="dk1"/>
              </a:buClr>
              <a:buSzPts val="2400"/>
              <a:buNone/>
            </a:pPr>
            <a:endParaRPr sz="2400" b="1" dirty="0">
              <a:latin typeface="Arial"/>
              <a:ea typeface="Arial"/>
              <a:cs typeface="Arial"/>
              <a:sym typeface="Arial"/>
            </a:endParaRPr>
          </a:p>
        </p:txBody>
      </p:sp>
      <p:sp>
        <p:nvSpPr>
          <p:cNvPr id="182" name="Google Shape;182;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28 July 2025</a:t>
            </a:r>
            <a:endParaRPr/>
          </a:p>
        </p:txBody>
      </p:sp>
      <p:sp>
        <p:nvSpPr>
          <p:cNvPr id="183" name="Google Shape;183;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 - CSE</a:t>
            </a:r>
            <a:endParaRPr/>
          </a:p>
        </p:txBody>
      </p:sp>
      <p:sp>
        <p:nvSpPr>
          <p:cNvPr id="184" name="Google Shape;184;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11</a:t>
            </a:fld>
            <a:endParaRPr/>
          </a:p>
        </p:txBody>
      </p:sp>
      <p:pic>
        <p:nvPicPr>
          <p:cNvPr id="1026" name="Picture 2">
            <a:extLst>
              <a:ext uri="{FF2B5EF4-FFF2-40B4-BE49-F238E27FC236}">
                <a16:creationId xmlns:a16="http://schemas.microsoft.com/office/drawing/2014/main" xmlns="" id="{D4A9460C-707B-B37F-A33F-BCC3E754973D}"/>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2286000" y="1371600"/>
            <a:ext cx="4572000" cy="5087257"/>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2"/>
          <p:cNvSpPr txBox="1">
            <a:spLocks noGrp="1"/>
          </p:cNvSpPr>
          <p:nvPr>
            <p:ph type="title"/>
          </p:nvPr>
        </p:nvSpPr>
        <p:spPr>
          <a:xfrm>
            <a:off x="634499" y="730975"/>
            <a:ext cx="8229600" cy="82757"/>
          </a:xfrm>
          <a:prstGeom prst="rect">
            <a:avLst/>
          </a:prstGeom>
        </p:spPr>
        <p:txBody>
          <a:bodyPr spcFirstLastPara="1" wrap="square" lIns="91425" tIns="45700" rIns="91425" bIns="45700" anchor="ctr" anchorCtr="0">
            <a:noAutofit/>
          </a:bodyPr>
          <a:lstStyle/>
          <a:p>
            <a:pPr lvl="0">
              <a:spcBef>
                <a:spcPts val="360"/>
              </a:spcBef>
              <a:buSzPts val="1100"/>
            </a:pPr>
            <a:r>
              <a:rPr lang="en-US" dirty="0">
                <a:latin typeface="Calibri" panose="020F0502020204030204" pitchFamily="34" charset="0"/>
                <a:ea typeface="Calibri" panose="020F0502020204030204" pitchFamily="34" charset="0"/>
                <a:cs typeface="Calibri" panose="020F0502020204030204" pitchFamily="34" charset="0"/>
              </a:rPr>
              <a:t>PROPOSED SYSTEM(2/2)</a:t>
            </a:r>
            <a:endParaRPr dirty="0"/>
          </a:p>
        </p:txBody>
      </p:sp>
      <p:sp>
        <p:nvSpPr>
          <p:cNvPr id="174" name="Google Shape;174;p22"/>
          <p:cNvSpPr txBox="1">
            <a:spLocks noGrp="1"/>
          </p:cNvSpPr>
          <p:nvPr>
            <p:ph type="body" idx="1"/>
          </p:nvPr>
        </p:nvSpPr>
        <p:spPr>
          <a:xfrm>
            <a:off x="457200" y="1568741"/>
            <a:ext cx="8229600" cy="4558284"/>
          </a:xfrm>
          <a:prstGeom prst="rect">
            <a:avLst/>
          </a:prstGeom>
        </p:spPr>
        <p:txBody>
          <a:bodyPr spcFirstLastPara="1" wrap="square" lIns="91425" tIns="45700" rIns="91425" bIns="45700" anchor="t" anchorCtr="0">
            <a:normAutofit fontScale="62500" lnSpcReduction="20000"/>
          </a:bodyPr>
          <a:lstStyle/>
          <a:p>
            <a:pPr marL="114300" indent="0">
              <a:buNone/>
            </a:pPr>
            <a:r>
              <a:rPr lang="en-US" b="1" dirty="0"/>
              <a:t>Advantages of Proposed System :</a:t>
            </a:r>
          </a:p>
          <a:p>
            <a:endParaRPr lang="en-US" b="1" dirty="0"/>
          </a:p>
          <a:p>
            <a:r>
              <a:rPr lang="en-US" b="1" dirty="0"/>
              <a:t>High Accuracy</a:t>
            </a:r>
            <a:endParaRPr lang="en-US" dirty="0"/>
          </a:p>
          <a:p>
            <a:pPr lvl="1"/>
            <a:r>
              <a:rPr lang="en-US" dirty="0"/>
              <a:t>XGBoost handles complex patterns and delivers precise predictions.</a:t>
            </a:r>
          </a:p>
          <a:p>
            <a:r>
              <a:rPr lang="en-US" b="1" dirty="0"/>
              <a:t>Fast &amp; Scalable</a:t>
            </a:r>
            <a:endParaRPr lang="en-US" dirty="0"/>
          </a:p>
          <a:p>
            <a:pPr lvl="1"/>
            <a:r>
              <a:rPr lang="en-US" dirty="0"/>
              <a:t>Efficient for large datasets and real-time applications.</a:t>
            </a:r>
          </a:p>
          <a:p>
            <a:r>
              <a:rPr lang="en-US" b="1" dirty="0"/>
              <a:t>Handles Missing Data</a:t>
            </a:r>
            <a:endParaRPr lang="en-US" dirty="0"/>
          </a:p>
          <a:p>
            <a:pPr lvl="1"/>
            <a:r>
              <a:rPr lang="en-US" dirty="0"/>
              <a:t>Robust even when some inputs are incomplete or noisy.</a:t>
            </a:r>
          </a:p>
          <a:p>
            <a:r>
              <a:rPr lang="en-US" b="1" dirty="0"/>
              <a:t>Feature Importance Insight</a:t>
            </a:r>
            <a:endParaRPr lang="en-US" dirty="0"/>
          </a:p>
          <a:p>
            <a:pPr lvl="1"/>
            <a:r>
              <a:rPr lang="en-US" dirty="0"/>
              <a:t>Identifies which factors (like temperature or pressure) influence energy usage the most.</a:t>
            </a:r>
          </a:p>
          <a:p>
            <a:r>
              <a:rPr lang="en-US" b="1" dirty="0"/>
              <a:t>Improved Resource Management</a:t>
            </a:r>
            <a:endParaRPr lang="en-US" dirty="0"/>
          </a:p>
          <a:p>
            <a:pPr lvl="1"/>
            <a:r>
              <a:rPr lang="en-US" dirty="0"/>
              <a:t>Helps in better planning and reduces energy wastage.</a:t>
            </a:r>
          </a:p>
          <a:p>
            <a:r>
              <a:rPr lang="en-US" b="1" dirty="0"/>
              <a:t>Supports Smart Grid Systems</a:t>
            </a:r>
            <a:endParaRPr lang="en-US" dirty="0"/>
          </a:p>
          <a:p>
            <a:pPr lvl="1"/>
            <a:r>
              <a:rPr lang="en-US" dirty="0"/>
              <a:t>Enables data-driven decision-making for utilities and policymakers.</a:t>
            </a:r>
          </a:p>
          <a:p>
            <a:pPr marL="0" lvl="0" indent="0" algn="l" rtl="0">
              <a:spcBef>
                <a:spcPts val="1200"/>
              </a:spcBef>
              <a:spcAft>
                <a:spcPts val="0"/>
              </a:spcAft>
              <a:buNone/>
            </a:pPr>
            <a:endParaRPr sz="4200" dirty="0"/>
          </a:p>
        </p:txBody>
      </p:sp>
      <p:sp>
        <p:nvSpPr>
          <p:cNvPr id="175" name="Google Shape;175;p22"/>
          <p:cNvSpPr txBox="1">
            <a:spLocks noGrp="1"/>
          </p:cNvSpPr>
          <p:nvPr>
            <p:ph type="sldNum" idx="12"/>
          </p:nvPr>
        </p:nvSpPr>
        <p:spPr>
          <a:xfrm>
            <a:off x="6553200" y="6356350"/>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pPr marL="0" lvl="0" indent="0" algn="r" rtl="0">
                <a:spcBef>
                  <a:spcPts val="0"/>
                </a:spcBef>
                <a:spcAft>
                  <a:spcPts val="0"/>
                </a:spcAft>
                <a:buClr>
                  <a:srgbClr val="000000"/>
                </a:buClr>
                <a:buFont typeface="Arial"/>
                <a:buNone/>
              </a:pPr>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6105CF3-CFD5-D8C2-0C8D-9DD1202A94DD}"/>
              </a:ext>
            </a:extLst>
          </p:cNvPr>
          <p:cNvSpPr>
            <a:spLocks noGrp="1"/>
          </p:cNvSpPr>
          <p:nvPr>
            <p:ph type="title"/>
          </p:nvPr>
        </p:nvSpPr>
        <p:spPr/>
        <p:txBody>
          <a:bodyPr/>
          <a:lstStyle/>
          <a:p>
            <a:r>
              <a:rPr lang="en-US" dirty="0"/>
              <a:t>MODULES(1/2)</a:t>
            </a:r>
            <a:endParaRPr lang="en-IN" dirty="0"/>
          </a:p>
        </p:txBody>
      </p:sp>
      <p:sp>
        <p:nvSpPr>
          <p:cNvPr id="3" name="Slide Number Placeholder 2">
            <a:extLst>
              <a:ext uri="{FF2B5EF4-FFF2-40B4-BE49-F238E27FC236}">
                <a16:creationId xmlns:a16="http://schemas.microsoft.com/office/drawing/2014/main" xmlns="" id="{E3001BFA-7029-3E5C-A22E-8EA128595A7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13</a:t>
            </a:fld>
            <a:endParaRPr lang="en-US"/>
          </a:p>
        </p:txBody>
      </p:sp>
      <p:sp>
        <p:nvSpPr>
          <p:cNvPr id="5" name="TextBox 4">
            <a:extLst>
              <a:ext uri="{FF2B5EF4-FFF2-40B4-BE49-F238E27FC236}">
                <a16:creationId xmlns:a16="http://schemas.microsoft.com/office/drawing/2014/main" xmlns="" id="{A5B08912-F875-DA74-27DE-8E3890A82DC6}"/>
              </a:ext>
            </a:extLst>
          </p:cNvPr>
          <p:cNvSpPr txBox="1"/>
          <p:nvPr/>
        </p:nvSpPr>
        <p:spPr>
          <a:xfrm>
            <a:off x="578839" y="1535185"/>
            <a:ext cx="7675927" cy="5109091"/>
          </a:xfrm>
          <a:prstGeom prst="rect">
            <a:avLst/>
          </a:prstGeom>
          <a:noFill/>
        </p:spPr>
        <p:txBody>
          <a:bodyPr wrap="square">
            <a:spAutoFit/>
          </a:bodyPr>
          <a:lstStyle/>
          <a:p>
            <a:r>
              <a:rPr lang="en-IN" sz="2200" b="1" dirty="0">
                <a:latin typeface="Calibri" panose="020F0502020204030204" pitchFamily="34" charset="0"/>
                <a:ea typeface="Calibri" panose="020F0502020204030204" pitchFamily="34" charset="0"/>
                <a:cs typeface="Calibri" panose="020F0502020204030204" pitchFamily="34" charset="0"/>
              </a:rPr>
              <a:t>1. Data Handling &amp; Computation</a:t>
            </a:r>
          </a:p>
          <a:p>
            <a:r>
              <a:rPr lang="en-IN" sz="2000" dirty="0">
                <a:latin typeface="Calibri" panose="020F0502020204030204" pitchFamily="34" charset="0"/>
                <a:ea typeface="Calibri" panose="020F0502020204030204" pitchFamily="34" charset="0"/>
                <a:cs typeface="Calibri" panose="020F0502020204030204" pitchFamily="34" charset="0"/>
              </a:rPr>
              <a:t>pandas → import pandas as pd</a:t>
            </a:r>
            <a:br>
              <a:rPr lang="en-IN" sz="2000" dirty="0">
                <a:latin typeface="Calibri" panose="020F0502020204030204" pitchFamily="34" charset="0"/>
                <a:ea typeface="Calibri" panose="020F0502020204030204" pitchFamily="34" charset="0"/>
                <a:cs typeface="Calibri" panose="020F0502020204030204" pitchFamily="34" charset="0"/>
              </a:rPr>
            </a:br>
            <a:r>
              <a:rPr lang="en-IN" sz="2000" dirty="0">
                <a:latin typeface="Calibri" panose="020F0502020204030204" pitchFamily="34" charset="0"/>
                <a:ea typeface="Calibri" panose="020F0502020204030204" pitchFamily="34" charset="0"/>
                <a:cs typeface="Calibri" panose="020F0502020204030204" pitchFamily="34" charset="0"/>
              </a:rPr>
              <a:t>Used for loading the CSV, manipulating </a:t>
            </a:r>
            <a:r>
              <a:rPr lang="en-IN" sz="2000" dirty="0" err="1">
                <a:latin typeface="Calibri" panose="020F0502020204030204" pitchFamily="34" charset="0"/>
                <a:ea typeface="Calibri" panose="020F0502020204030204" pitchFamily="34" charset="0"/>
                <a:cs typeface="Calibri" panose="020F0502020204030204" pitchFamily="34" charset="0"/>
              </a:rPr>
              <a:t>dataframes</a:t>
            </a:r>
            <a:r>
              <a:rPr lang="en-IN" sz="2000" dirty="0">
                <a:latin typeface="Calibri" panose="020F0502020204030204" pitchFamily="34" charset="0"/>
                <a:ea typeface="Calibri" panose="020F0502020204030204" pitchFamily="34" charset="0"/>
                <a:cs typeface="Calibri" panose="020F0502020204030204" pitchFamily="34" charset="0"/>
              </a:rPr>
              <a:t>, creating new features, and preprocessing.</a:t>
            </a:r>
          </a:p>
          <a:p>
            <a:r>
              <a:rPr lang="en-IN" sz="2000" dirty="0" err="1">
                <a:latin typeface="Calibri" panose="020F0502020204030204" pitchFamily="34" charset="0"/>
                <a:ea typeface="Calibri" panose="020F0502020204030204" pitchFamily="34" charset="0"/>
                <a:cs typeface="Calibri" panose="020F0502020204030204" pitchFamily="34" charset="0"/>
              </a:rPr>
              <a:t>numpy</a:t>
            </a:r>
            <a:r>
              <a:rPr lang="en-IN" sz="2000" dirty="0">
                <a:latin typeface="Calibri" panose="020F0502020204030204" pitchFamily="34" charset="0"/>
                <a:ea typeface="Calibri" panose="020F0502020204030204" pitchFamily="34" charset="0"/>
                <a:cs typeface="Calibri" panose="020F0502020204030204" pitchFamily="34" charset="0"/>
              </a:rPr>
              <a:t> → import </a:t>
            </a:r>
            <a:r>
              <a:rPr lang="en-IN" sz="2000" dirty="0" err="1">
                <a:latin typeface="Calibri" panose="020F0502020204030204" pitchFamily="34" charset="0"/>
                <a:ea typeface="Calibri" panose="020F0502020204030204" pitchFamily="34" charset="0"/>
                <a:cs typeface="Calibri" panose="020F0502020204030204" pitchFamily="34" charset="0"/>
              </a:rPr>
              <a:t>numpy</a:t>
            </a:r>
            <a:r>
              <a:rPr lang="en-IN" sz="2000" dirty="0">
                <a:latin typeface="Calibri" panose="020F0502020204030204" pitchFamily="34" charset="0"/>
                <a:ea typeface="Calibri" panose="020F0502020204030204" pitchFamily="34" charset="0"/>
                <a:cs typeface="Calibri" panose="020F0502020204030204" pitchFamily="34" charset="0"/>
              </a:rPr>
              <a:t> as np</a:t>
            </a:r>
            <a:br>
              <a:rPr lang="en-IN" sz="2000" dirty="0">
                <a:latin typeface="Calibri" panose="020F0502020204030204" pitchFamily="34" charset="0"/>
                <a:ea typeface="Calibri" panose="020F0502020204030204" pitchFamily="34" charset="0"/>
                <a:cs typeface="Calibri" panose="020F0502020204030204" pitchFamily="34" charset="0"/>
              </a:rPr>
            </a:br>
            <a:r>
              <a:rPr lang="en-IN" sz="2000" dirty="0">
                <a:latin typeface="Calibri" panose="020F0502020204030204" pitchFamily="34" charset="0"/>
                <a:ea typeface="Calibri" panose="020F0502020204030204" pitchFamily="34" charset="0"/>
                <a:cs typeface="Calibri" panose="020F0502020204030204" pitchFamily="34" charset="0"/>
              </a:rPr>
              <a:t>Used for numerical operations such as log transformation, scaling, and computing RMSE.</a:t>
            </a:r>
          </a:p>
          <a:p>
            <a:pPr>
              <a:buNone/>
            </a:pPr>
            <a:endParaRPr lang="en-IN" sz="2200" b="1" dirty="0"/>
          </a:p>
          <a:p>
            <a:pPr>
              <a:buNone/>
            </a:pPr>
            <a:r>
              <a:rPr lang="en-IN" sz="2200" b="1" dirty="0"/>
              <a:t>2. Machine Learning</a:t>
            </a:r>
          </a:p>
          <a:p>
            <a:pPr>
              <a:buFont typeface="Arial" panose="020B0604020202020204" pitchFamily="34" charset="0"/>
              <a:buChar char="•"/>
            </a:pPr>
            <a:r>
              <a:rPr lang="en-IN" sz="2000" dirty="0" err="1">
                <a:latin typeface="Calibri" panose="020F0502020204030204" pitchFamily="34" charset="0"/>
                <a:ea typeface="Calibri" panose="020F0502020204030204" pitchFamily="34" charset="0"/>
                <a:cs typeface="Calibri" panose="020F0502020204030204" pitchFamily="34" charset="0"/>
              </a:rPr>
              <a:t>sklearn.model_selection</a:t>
            </a:r>
            <a:r>
              <a:rPr lang="en-IN" sz="2000" dirty="0">
                <a:latin typeface="Calibri" panose="020F0502020204030204" pitchFamily="34" charset="0"/>
                <a:ea typeface="Calibri" panose="020F0502020204030204" pitchFamily="34" charset="0"/>
                <a:cs typeface="Calibri" panose="020F0502020204030204" pitchFamily="34" charset="0"/>
              </a:rPr>
              <a:t> → </a:t>
            </a:r>
            <a:r>
              <a:rPr lang="en-IN" sz="2000" dirty="0" err="1">
                <a:latin typeface="Calibri" panose="020F0502020204030204" pitchFamily="34" charset="0"/>
                <a:ea typeface="Calibri" panose="020F0502020204030204" pitchFamily="34" charset="0"/>
                <a:cs typeface="Calibri" panose="020F0502020204030204" pitchFamily="34" charset="0"/>
              </a:rPr>
              <a:t>train_test_split</a:t>
            </a:r>
            <a:r>
              <a:rPr lang="en-IN" sz="2000" dirty="0">
                <a:latin typeface="Calibri" panose="020F0502020204030204" pitchFamily="34" charset="0"/>
                <a:ea typeface="Calibri" panose="020F0502020204030204" pitchFamily="34" charset="0"/>
                <a:cs typeface="Calibri" panose="020F0502020204030204" pitchFamily="34" charset="0"/>
              </a:rPr>
              <a:t/>
            </a:r>
            <a:br>
              <a:rPr lang="en-IN" sz="2000" dirty="0">
                <a:latin typeface="Calibri" panose="020F0502020204030204" pitchFamily="34" charset="0"/>
                <a:ea typeface="Calibri" panose="020F0502020204030204" pitchFamily="34" charset="0"/>
                <a:cs typeface="Calibri" panose="020F0502020204030204" pitchFamily="34" charset="0"/>
              </a:rPr>
            </a:br>
            <a:r>
              <a:rPr lang="en-IN" sz="2000" dirty="0">
                <a:latin typeface="Calibri" panose="020F0502020204030204" pitchFamily="34" charset="0"/>
                <a:ea typeface="Calibri" panose="020F0502020204030204" pitchFamily="34" charset="0"/>
                <a:cs typeface="Calibri" panose="020F0502020204030204" pitchFamily="34" charset="0"/>
              </a:rPr>
              <a:t>Used to split the dataset into training and testing sets.</a:t>
            </a:r>
          </a:p>
          <a:p>
            <a:pPr>
              <a:buFont typeface="Arial" panose="020B0604020202020204" pitchFamily="34" charset="0"/>
              <a:buChar char="•"/>
            </a:pPr>
            <a:r>
              <a:rPr lang="en-IN" sz="2000" dirty="0" err="1">
                <a:latin typeface="Calibri" panose="020F0502020204030204" pitchFamily="34" charset="0"/>
                <a:ea typeface="Calibri" panose="020F0502020204030204" pitchFamily="34" charset="0"/>
                <a:cs typeface="Calibri" panose="020F0502020204030204" pitchFamily="34" charset="0"/>
              </a:rPr>
              <a:t>sklearn.metrics</a:t>
            </a:r>
            <a:r>
              <a:rPr lang="en-IN" sz="2000" dirty="0">
                <a:latin typeface="Calibri" panose="020F0502020204030204" pitchFamily="34" charset="0"/>
                <a:ea typeface="Calibri" panose="020F0502020204030204" pitchFamily="34" charset="0"/>
                <a:cs typeface="Calibri" panose="020F0502020204030204" pitchFamily="34" charset="0"/>
              </a:rPr>
              <a:t> → </a:t>
            </a:r>
            <a:r>
              <a:rPr lang="en-IN" sz="2000" dirty="0" err="1">
                <a:latin typeface="Calibri" panose="020F0502020204030204" pitchFamily="34" charset="0"/>
                <a:ea typeface="Calibri" panose="020F0502020204030204" pitchFamily="34" charset="0"/>
                <a:cs typeface="Calibri" panose="020F0502020204030204" pitchFamily="34" charset="0"/>
              </a:rPr>
              <a:t>mean_absolute_error</a:t>
            </a:r>
            <a:r>
              <a:rPr lang="en-IN" sz="2000" dirty="0">
                <a:latin typeface="Calibri" panose="020F0502020204030204" pitchFamily="34" charset="0"/>
                <a:ea typeface="Calibri" panose="020F0502020204030204" pitchFamily="34" charset="0"/>
                <a:cs typeface="Calibri" panose="020F0502020204030204" pitchFamily="34" charset="0"/>
              </a:rPr>
              <a:t>, </a:t>
            </a:r>
            <a:r>
              <a:rPr lang="en-IN" sz="2000" dirty="0" err="1">
                <a:latin typeface="Calibri" panose="020F0502020204030204" pitchFamily="34" charset="0"/>
                <a:ea typeface="Calibri" panose="020F0502020204030204" pitchFamily="34" charset="0"/>
                <a:cs typeface="Calibri" panose="020F0502020204030204" pitchFamily="34" charset="0"/>
              </a:rPr>
              <a:t>mean_squared_error</a:t>
            </a:r>
            <a:r>
              <a:rPr lang="en-IN" sz="2000" dirty="0">
                <a:latin typeface="Calibri" panose="020F0502020204030204" pitchFamily="34" charset="0"/>
                <a:ea typeface="Calibri" panose="020F0502020204030204" pitchFamily="34" charset="0"/>
                <a:cs typeface="Calibri" panose="020F0502020204030204" pitchFamily="34" charset="0"/>
              </a:rPr>
              <a:t>, r2_score</a:t>
            </a:r>
            <a:br>
              <a:rPr lang="en-IN" sz="2000" dirty="0">
                <a:latin typeface="Calibri" panose="020F0502020204030204" pitchFamily="34" charset="0"/>
                <a:ea typeface="Calibri" panose="020F0502020204030204" pitchFamily="34" charset="0"/>
                <a:cs typeface="Calibri" panose="020F0502020204030204" pitchFamily="34" charset="0"/>
              </a:rPr>
            </a:br>
            <a:r>
              <a:rPr lang="en-IN" sz="2000" dirty="0">
                <a:latin typeface="Calibri" panose="020F0502020204030204" pitchFamily="34" charset="0"/>
                <a:ea typeface="Calibri" panose="020F0502020204030204" pitchFamily="34" charset="0"/>
                <a:cs typeface="Calibri" panose="020F0502020204030204" pitchFamily="34" charset="0"/>
              </a:rPr>
              <a:t>Used for evaluating the regression model performance.</a:t>
            </a:r>
          </a:p>
          <a:p>
            <a:pPr>
              <a:buFont typeface="Arial" panose="020B0604020202020204" pitchFamily="34" charset="0"/>
              <a:buChar char="•"/>
            </a:pPr>
            <a:r>
              <a:rPr lang="en-IN" sz="2000" dirty="0" err="1">
                <a:latin typeface="Calibri" panose="020F0502020204030204" pitchFamily="34" charset="0"/>
                <a:ea typeface="Calibri" panose="020F0502020204030204" pitchFamily="34" charset="0"/>
                <a:cs typeface="Calibri" panose="020F0502020204030204" pitchFamily="34" charset="0"/>
              </a:rPr>
              <a:t>xgboost</a:t>
            </a:r>
            <a:r>
              <a:rPr lang="en-IN" sz="2000" dirty="0">
                <a:latin typeface="Calibri" panose="020F0502020204030204" pitchFamily="34" charset="0"/>
                <a:ea typeface="Calibri" panose="020F0502020204030204" pitchFamily="34" charset="0"/>
                <a:cs typeface="Calibri" panose="020F0502020204030204" pitchFamily="34" charset="0"/>
              </a:rPr>
              <a:t> → import </a:t>
            </a:r>
            <a:r>
              <a:rPr lang="en-IN" sz="2000" dirty="0" err="1">
                <a:latin typeface="Calibri" panose="020F0502020204030204" pitchFamily="34" charset="0"/>
                <a:ea typeface="Calibri" panose="020F0502020204030204" pitchFamily="34" charset="0"/>
                <a:cs typeface="Calibri" panose="020F0502020204030204" pitchFamily="34" charset="0"/>
              </a:rPr>
              <a:t>xgboost</a:t>
            </a:r>
            <a:r>
              <a:rPr lang="en-IN" sz="2000" dirty="0">
                <a:latin typeface="Calibri" panose="020F0502020204030204" pitchFamily="34" charset="0"/>
                <a:ea typeface="Calibri" panose="020F0502020204030204" pitchFamily="34" charset="0"/>
                <a:cs typeface="Calibri" panose="020F0502020204030204" pitchFamily="34" charset="0"/>
              </a:rPr>
              <a:t> as </a:t>
            </a:r>
            <a:r>
              <a:rPr lang="en-IN" sz="2000" dirty="0" err="1">
                <a:latin typeface="Calibri" panose="020F0502020204030204" pitchFamily="34" charset="0"/>
                <a:ea typeface="Calibri" panose="020F0502020204030204" pitchFamily="34" charset="0"/>
                <a:cs typeface="Calibri" panose="020F0502020204030204" pitchFamily="34" charset="0"/>
              </a:rPr>
              <a:t>xgb</a:t>
            </a:r>
            <a:r>
              <a:rPr lang="en-IN" sz="2000" dirty="0">
                <a:latin typeface="Calibri" panose="020F0502020204030204" pitchFamily="34" charset="0"/>
                <a:ea typeface="Calibri" panose="020F0502020204030204" pitchFamily="34" charset="0"/>
                <a:cs typeface="Calibri" panose="020F0502020204030204" pitchFamily="34" charset="0"/>
              </a:rPr>
              <a:t/>
            </a:r>
            <a:br>
              <a:rPr lang="en-IN" sz="2000" dirty="0">
                <a:latin typeface="Calibri" panose="020F0502020204030204" pitchFamily="34" charset="0"/>
                <a:ea typeface="Calibri" panose="020F0502020204030204" pitchFamily="34" charset="0"/>
                <a:cs typeface="Calibri" panose="020F0502020204030204" pitchFamily="34" charset="0"/>
              </a:rPr>
            </a:br>
            <a:r>
              <a:rPr lang="en-IN" sz="2000" dirty="0">
                <a:latin typeface="Calibri" panose="020F0502020204030204" pitchFamily="34" charset="0"/>
                <a:ea typeface="Calibri" panose="020F0502020204030204" pitchFamily="34" charset="0"/>
                <a:cs typeface="Calibri" panose="020F0502020204030204" pitchFamily="34" charset="0"/>
              </a:rPr>
              <a:t>Used for building and training the </a:t>
            </a:r>
            <a:r>
              <a:rPr lang="en-IN" sz="2000" dirty="0" err="1">
                <a:latin typeface="Calibri" panose="020F0502020204030204" pitchFamily="34" charset="0"/>
                <a:ea typeface="Calibri" panose="020F0502020204030204" pitchFamily="34" charset="0"/>
                <a:cs typeface="Calibri" panose="020F0502020204030204" pitchFamily="34" charset="0"/>
              </a:rPr>
              <a:t>XGBoost</a:t>
            </a:r>
            <a:r>
              <a:rPr lang="en-IN" sz="2000" dirty="0">
                <a:latin typeface="Calibri" panose="020F0502020204030204" pitchFamily="34" charset="0"/>
                <a:ea typeface="Calibri" panose="020F0502020204030204" pitchFamily="34" charset="0"/>
                <a:cs typeface="Calibri" panose="020F0502020204030204" pitchFamily="34" charset="0"/>
              </a:rPr>
              <a:t> regression model.</a:t>
            </a:r>
          </a:p>
        </p:txBody>
      </p:sp>
    </p:spTree>
    <p:extLst>
      <p:ext uri="{BB962C8B-B14F-4D97-AF65-F5344CB8AC3E}">
        <p14:creationId xmlns:p14="http://schemas.microsoft.com/office/powerpoint/2010/main" xmlns="" val="24356597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0DF4277-FF6D-21BD-3E05-F0C06C6CFAC0}"/>
              </a:ext>
            </a:extLst>
          </p:cNvPr>
          <p:cNvSpPr>
            <a:spLocks noGrp="1"/>
          </p:cNvSpPr>
          <p:nvPr>
            <p:ph type="title"/>
          </p:nvPr>
        </p:nvSpPr>
        <p:spPr/>
        <p:txBody>
          <a:bodyPr/>
          <a:lstStyle/>
          <a:p>
            <a:r>
              <a:rPr lang="en-US" dirty="0"/>
              <a:t>MODULES(2/2)</a:t>
            </a:r>
            <a:endParaRPr lang="en-IN" dirty="0"/>
          </a:p>
        </p:txBody>
      </p:sp>
      <p:sp>
        <p:nvSpPr>
          <p:cNvPr id="3" name="Slide Number Placeholder 2">
            <a:extLst>
              <a:ext uri="{FF2B5EF4-FFF2-40B4-BE49-F238E27FC236}">
                <a16:creationId xmlns:a16="http://schemas.microsoft.com/office/drawing/2014/main" xmlns="" id="{4644F538-933B-23FD-1FC5-DF3F15AC455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14</a:t>
            </a:fld>
            <a:endParaRPr lang="en-US"/>
          </a:p>
        </p:txBody>
      </p:sp>
      <p:sp>
        <p:nvSpPr>
          <p:cNvPr id="5" name="TextBox 4">
            <a:extLst>
              <a:ext uri="{FF2B5EF4-FFF2-40B4-BE49-F238E27FC236}">
                <a16:creationId xmlns:a16="http://schemas.microsoft.com/office/drawing/2014/main" xmlns="" id="{FB620638-7A12-0CBD-1B67-453A2F26F41E}"/>
              </a:ext>
            </a:extLst>
          </p:cNvPr>
          <p:cNvSpPr txBox="1"/>
          <p:nvPr/>
        </p:nvSpPr>
        <p:spPr>
          <a:xfrm>
            <a:off x="409528" y="1418382"/>
            <a:ext cx="8414157" cy="1661993"/>
          </a:xfrm>
          <a:prstGeom prst="rect">
            <a:avLst/>
          </a:prstGeom>
          <a:noFill/>
        </p:spPr>
        <p:txBody>
          <a:bodyPr wrap="square">
            <a:spAutoFit/>
          </a:bodyPr>
          <a:lstStyle/>
          <a:p>
            <a:pPr>
              <a:buNone/>
            </a:pPr>
            <a:r>
              <a:rPr lang="en-IN" sz="2200" b="1" dirty="0">
                <a:latin typeface="Calibri" panose="020F0502020204030204" pitchFamily="34" charset="0"/>
                <a:ea typeface="Calibri" panose="020F0502020204030204" pitchFamily="34" charset="0"/>
                <a:cs typeface="Calibri" panose="020F0502020204030204" pitchFamily="34" charset="0"/>
              </a:rPr>
              <a:t>3. Data Visualization</a:t>
            </a:r>
          </a:p>
          <a:p>
            <a:pPr>
              <a:buFont typeface="Arial" panose="020B0604020202020204" pitchFamily="34" charset="0"/>
              <a:buChar char="•"/>
            </a:pPr>
            <a:r>
              <a:rPr lang="en-IN" sz="2000" dirty="0" err="1">
                <a:latin typeface="Calibri" panose="020F0502020204030204" pitchFamily="34" charset="0"/>
                <a:ea typeface="Calibri" panose="020F0502020204030204" pitchFamily="34" charset="0"/>
                <a:cs typeface="Calibri" panose="020F0502020204030204" pitchFamily="34" charset="0"/>
              </a:rPr>
              <a:t>matplotlib.pyplot</a:t>
            </a:r>
            <a:r>
              <a:rPr lang="en-IN" sz="2000" dirty="0">
                <a:latin typeface="Calibri" panose="020F0502020204030204" pitchFamily="34" charset="0"/>
                <a:ea typeface="Calibri" panose="020F0502020204030204" pitchFamily="34" charset="0"/>
                <a:cs typeface="Calibri" panose="020F0502020204030204" pitchFamily="34" charset="0"/>
              </a:rPr>
              <a:t> → import </a:t>
            </a:r>
            <a:r>
              <a:rPr lang="en-IN" sz="2000" dirty="0" err="1">
                <a:latin typeface="Calibri" panose="020F0502020204030204" pitchFamily="34" charset="0"/>
                <a:ea typeface="Calibri" panose="020F0502020204030204" pitchFamily="34" charset="0"/>
                <a:cs typeface="Calibri" panose="020F0502020204030204" pitchFamily="34" charset="0"/>
              </a:rPr>
              <a:t>matplotlib.pyplot</a:t>
            </a:r>
            <a:r>
              <a:rPr lang="en-IN" sz="2000" dirty="0">
                <a:latin typeface="Calibri" panose="020F0502020204030204" pitchFamily="34" charset="0"/>
                <a:ea typeface="Calibri" panose="020F0502020204030204" pitchFamily="34" charset="0"/>
                <a:cs typeface="Calibri" panose="020F0502020204030204" pitchFamily="34" charset="0"/>
              </a:rPr>
              <a:t> as </a:t>
            </a:r>
            <a:r>
              <a:rPr lang="en-IN" sz="2000" dirty="0" err="1">
                <a:latin typeface="Calibri" panose="020F0502020204030204" pitchFamily="34" charset="0"/>
                <a:ea typeface="Calibri" panose="020F0502020204030204" pitchFamily="34" charset="0"/>
                <a:cs typeface="Calibri" panose="020F0502020204030204" pitchFamily="34" charset="0"/>
              </a:rPr>
              <a:t>plt</a:t>
            </a:r>
            <a:r>
              <a:rPr lang="en-IN" sz="2000" dirty="0">
                <a:latin typeface="Calibri" panose="020F0502020204030204" pitchFamily="34" charset="0"/>
                <a:ea typeface="Calibri" panose="020F0502020204030204" pitchFamily="34" charset="0"/>
                <a:cs typeface="Calibri" panose="020F0502020204030204" pitchFamily="34" charset="0"/>
              </a:rPr>
              <a:t/>
            </a:r>
            <a:br>
              <a:rPr lang="en-IN" sz="2000" dirty="0">
                <a:latin typeface="Calibri" panose="020F0502020204030204" pitchFamily="34" charset="0"/>
                <a:ea typeface="Calibri" panose="020F0502020204030204" pitchFamily="34" charset="0"/>
                <a:cs typeface="Calibri" panose="020F0502020204030204" pitchFamily="34" charset="0"/>
              </a:rPr>
            </a:br>
            <a:r>
              <a:rPr lang="en-IN" sz="2000" dirty="0">
                <a:latin typeface="Calibri" panose="020F0502020204030204" pitchFamily="34" charset="0"/>
                <a:ea typeface="Calibri" panose="020F0502020204030204" pitchFamily="34" charset="0"/>
                <a:cs typeface="Calibri" panose="020F0502020204030204" pitchFamily="34" charset="0"/>
              </a:rPr>
              <a:t>Used for plotting graphs, histograms, and scatter plots.</a:t>
            </a:r>
          </a:p>
          <a:p>
            <a:pPr>
              <a:buFont typeface="Arial" panose="020B0604020202020204" pitchFamily="34" charset="0"/>
              <a:buChar char="•"/>
            </a:pPr>
            <a:r>
              <a:rPr lang="en-IN" sz="2000" dirty="0">
                <a:latin typeface="Calibri" panose="020F0502020204030204" pitchFamily="34" charset="0"/>
                <a:ea typeface="Calibri" panose="020F0502020204030204" pitchFamily="34" charset="0"/>
                <a:cs typeface="Calibri" panose="020F0502020204030204" pitchFamily="34" charset="0"/>
              </a:rPr>
              <a:t>seaborn → import seaborn as </a:t>
            </a:r>
            <a:r>
              <a:rPr lang="en-IN" sz="2000" dirty="0" err="1">
                <a:latin typeface="Calibri" panose="020F0502020204030204" pitchFamily="34" charset="0"/>
                <a:ea typeface="Calibri" panose="020F0502020204030204" pitchFamily="34" charset="0"/>
                <a:cs typeface="Calibri" panose="020F0502020204030204" pitchFamily="34" charset="0"/>
              </a:rPr>
              <a:t>sns</a:t>
            </a:r>
            <a:r>
              <a:rPr lang="en-IN" sz="2000" dirty="0">
                <a:latin typeface="Calibri" panose="020F0502020204030204" pitchFamily="34" charset="0"/>
                <a:ea typeface="Calibri" panose="020F0502020204030204" pitchFamily="34" charset="0"/>
                <a:cs typeface="Calibri" panose="020F0502020204030204" pitchFamily="34" charset="0"/>
              </a:rPr>
              <a:t/>
            </a:r>
            <a:br>
              <a:rPr lang="en-IN" sz="2000" dirty="0">
                <a:latin typeface="Calibri" panose="020F0502020204030204" pitchFamily="34" charset="0"/>
                <a:ea typeface="Calibri" panose="020F0502020204030204" pitchFamily="34" charset="0"/>
                <a:cs typeface="Calibri" panose="020F0502020204030204" pitchFamily="34" charset="0"/>
              </a:rPr>
            </a:br>
            <a:r>
              <a:rPr lang="en-IN" sz="2000" dirty="0">
                <a:latin typeface="Calibri" panose="020F0502020204030204" pitchFamily="34" charset="0"/>
                <a:ea typeface="Calibri" panose="020F0502020204030204" pitchFamily="34" charset="0"/>
                <a:cs typeface="Calibri" panose="020F0502020204030204" pitchFamily="34" charset="0"/>
              </a:rPr>
              <a:t>Used for statistical visualizations like histograms, heatmaps, and line plots.</a:t>
            </a:r>
          </a:p>
        </p:txBody>
      </p:sp>
      <p:sp>
        <p:nvSpPr>
          <p:cNvPr id="7" name="TextBox 6">
            <a:extLst>
              <a:ext uri="{FF2B5EF4-FFF2-40B4-BE49-F238E27FC236}">
                <a16:creationId xmlns:a16="http://schemas.microsoft.com/office/drawing/2014/main" xmlns="" id="{B4A3128B-5B27-C14D-CB62-969901B501F1}"/>
              </a:ext>
            </a:extLst>
          </p:cNvPr>
          <p:cNvSpPr txBox="1"/>
          <p:nvPr/>
        </p:nvSpPr>
        <p:spPr>
          <a:xfrm>
            <a:off x="409528" y="3080375"/>
            <a:ext cx="8008423" cy="1046440"/>
          </a:xfrm>
          <a:prstGeom prst="rect">
            <a:avLst/>
          </a:prstGeom>
          <a:noFill/>
        </p:spPr>
        <p:txBody>
          <a:bodyPr wrap="square">
            <a:spAutoFit/>
          </a:bodyPr>
          <a:lstStyle/>
          <a:p>
            <a:pPr>
              <a:buNone/>
            </a:pPr>
            <a:r>
              <a:rPr lang="en-IN" sz="2200" b="1" dirty="0">
                <a:latin typeface="Calibri" panose="020F0502020204030204" pitchFamily="34" charset="0"/>
                <a:ea typeface="Calibri" panose="020F0502020204030204" pitchFamily="34" charset="0"/>
                <a:cs typeface="Calibri" panose="020F0502020204030204" pitchFamily="34" charset="0"/>
              </a:rPr>
              <a:t>4. Miscellaneous / Settings</a:t>
            </a:r>
            <a:endParaRPr lang="en-IN" sz="2000" b="1"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IN" sz="2000" dirty="0" err="1">
                <a:latin typeface="Calibri" panose="020F0502020204030204" pitchFamily="34" charset="0"/>
                <a:ea typeface="Calibri" panose="020F0502020204030204" pitchFamily="34" charset="0"/>
                <a:cs typeface="Calibri" panose="020F0502020204030204" pitchFamily="34" charset="0"/>
              </a:rPr>
              <a:t>sns.set</a:t>
            </a:r>
            <a:r>
              <a:rPr lang="en-IN" sz="2000" dirty="0">
                <a:latin typeface="Calibri" panose="020F0502020204030204" pitchFamily="34" charset="0"/>
                <a:ea typeface="Calibri" panose="020F0502020204030204" pitchFamily="34" charset="0"/>
                <a:cs typeface="Calibri" panose="020F0502020204030204" pitchFamily="34" charset="0"/>
              </a:rPr>
              <a:t>(style="</a:t>
            </a:r>
            <a:r>
              <a:rPr lang="en-IN" sz="2000" dirty="0" err="1">
                <a:latin typeface="Calibri" panose="020F0502020204030204" pitchFamily="34" charset="0"/>
                <a:ea typeface="Calibri" panose="020F0502020204030204" pitchFamily="34" charset="0"/>
                <a:cs typeface="Calibri" panose="020F0502020204030204" pitchFamily="34" charset="0"/>
              </a:rPr>
              <a:t>whitegrid</a:t>
            </a:r>
            <a:r>
              <a:rPr lang="en-IN" sz="2000" dirty="0">
                <a:latin typeface="Calibri" panose="020F0502020204030204" pitchFamily="34" charset="0"/>
                <a:ea typeface="Calibri" panose="020F0502020204030204" pitchFamily="34" charset="0"/>
                <a:cs typeface="Calibri" panose="020F0502020204030204" pitchFamily="34" charset="0"/>
              </a:rPr>
              <a:t>"</a:t>
            </a:r>
            <a:r>
              <a:rPr lang="en-IN" sz="2000" dirty="0">
                <a:latin typeface="Courier New" panose="02070309020205020404" pitchFamily="49" charset="0"/>
              </a:rPr>
              <a:t>)</a:t>
            </a:r>
            <a:r>
              <a:rPr lang="en-IN" sz="2000" dirty="0"/>
              <a:t/>
            </a:r>
            <a:br>
              <a:rPr lang="en-IN" sz="2000" dirty="0"/>
            </a:br>
            <a:r>
              <a:rPr lang="en-IN" sz="2000" dirty="0">
                <a:latin typeface="Calibri" panose="020F0502020204030204" pitchFamily="34" charset="0"/>
                <a:ea typeface="Calibri" panose="020F0502020204030204" pitchFamily="34" charset="0"/>
                <a:cs typeface="Calibri" panose="020F0502020204030204" pitchFamily="34" charset="0"/>
              </a:rPr>
              <a:t>Sets the Seaborn plot style for better aesthetics.</a:t>
            </a:r>
          </a:p>
        </p:txBody>
      </p:sp>
      <p:sp>
        <p:nvSpPr>
          <p:cNvPr id="9" name="TextBox 8">
            <a:extLst>
              <a:ext uri="{FF2B5EF4-FFF2-40B4-BE49-F238E27FC236}">
                <a16:creationId xmlns:a16="http://schemas.microsoft.com/office/drawing/2014/main" xmlns="" id="{A78593AB-BFDB-47D2-96CC-8F5C8ECC9AEF}"/>
              </a:ext>
            </a:extLst>
          </p:cNvPr>
          <p:cNvSpPr txBox="1"/>
          <p:nvPr/>
        </p:nvSpPr>
        <p:spPr>
          <a:xfrm>
            <a:off x="409528" y="4146956"/>
            <a:ext cx="6290211" cy="2585323"/>
          </a:xfrm>
          <a:prstGeom prst="rect">
            <a:avLst/>
          </a:prstGeom>
          <a:noFill/>
        </p:spPr>
        <p:txBody>
          <a:bodyPr wrap="square">
            <a:spAutoFit/>
          </a:bodyPr>
          <a:lstStyle/>
          <a:p>
            <a:pPr>
              <a:buNone/>
            </a:pPr>
            <a:r>
              <a:rPr lang="en-IN" sz="2200" b="1" dirty="0">
                <a:latin typeface="Calibri" panose="020F0502020204030204" pitchFamily="34" charset="0"/>
                <a:ea typeface="Calibri" panose="020F0502020204030204" pitchFamily="34" charset="0"/>
                <a:cs typeface="Calibri" panose="020F0502020204030204" pitchFamily="34" charset="0"/>
              </a:rPr>
              <a:t>5.Modules Imported</a:t>
            </a:r>
            <a:endParaRPr lang="en-IN" sz="2200" dirty="0">
              <a:latin typeface="Calibri" panose="020F0502020204030204" pitchFamily="34" charset="0"/>
              <a:ea typeface="Calibri" panose="020F0502020204030204" pitchFamily="34" charset="0"/>
              <a:cs typeface="Calibri" panose="020F0502020204030204" pitchFamily="34" charset="0"/>
            </a:endParaRPr>
          </a:p>
          <a:p>
            <a:pPr marL="457200" indent="-457200">
              <a:buFont typeface="+mj-lt"/>
              <a:buAutoNum type="alphaLcParenR"/>
            </a:pPr>
            <a:r>
              <a:rPr lang="en-IN" sz="2000" dirty="0">
                <a:latin typeface="Calibri" panose="020F0502020204030204" pitchFamily="34" charset="0"/>
                <a:ea typeface="Calibri" panose="020F0502020204030204" pitchFamily="34" charset="0"/>
                <a:cs typeface="Calibri" panose="020F0502020204030204" pitchFamily="34" charset="0"/>
              </a:rPr>
              <a:t>pandas</a:t>
            </a:r>
          </a:p>
          <a:p>
            <a:pPr marL="457200" indent="-457200">
              <a:buFont typeface="+mj-lt"/>
              <a:buAutoNum type="alphaLcParenR"/>
            </a:pPr>
            <a:r>
              <a:rPr lang="en-IN" sz="2000" dirty="0" err="1">
                <a:latin typeface="Calibri" panose="020F0502020204030204" pitchFamily="34" charset="0"/>
                <a:ea typeface="Calibri" panose="020F0502020204030204" pitchFamily="34" charset="0"/>
                <a:cs typeface="Calibri" panose="020F0502020204030204" pitchFamily="34" charset="0"/>
              </a:rPr>
              <a:t>numpy</a:t>
            </a:r>
            <a:endParaRPr lang="en-IN" sz="2000" dirty="0">
              <a:latin typeface="Calibri" panose="020F0502020204030204" pitchFamily="34" charset="0"/>
              <a:ea typeface="Calibri" panose="020F0502020204030204" pitchFamily="34" charset="0"/>
              <a:cs typeface="Calibri" panose="020F0502020204030204" pitchFamily="34" charset="0"/>
            </a:endParaRPr>
          </a:p>
          <a:p>
            <a:pPr marL="457200" indent="-457200">
              <a:buFont typeface="+mj-lt"/>
              <a:buAutoNum type="alphaLcParenR"/>
            </a:pPr>
            <a:r>
              <a:rPr lang="en-IN" sz="2000" dirty="0" err="1">
                <a:latin typeface="Calibri" panose="020F0502020204030204" pitchFamily="34" charset="0"/>
                <a:ea typeface="Calibri" panose="020F0502020204030204" pitchFamily="34" charset="0"/>
                <a:cs typeface="Calibri" panose="020F0502020204030204" pitchFamily="34" charset="0"/>
              </a:rPr>
              <a:t>sklearn.model_selection</a:t>
            </a:r>
            <a:endParaRPr lang="en-IN" sz="2000" dirty="0">
              <a:latin typeface="Calibri" panose="020F0502020204030204" pitchFamily="34" charset="0"/>
              <a:ea typeface="Calibri" panose="020F0502020204030204" pitchFamily="34" charset="0"/>
              <a:cs typeface="Calibri" panose="020F0502020204030204" pitchFamily="34" charset="0"/>
            </a:endParaRPr>
          </a:p>
          <a:p>
            <a:pPr marL="457200" indent="-457200">
              <a:buFont typeface="+mj-lt"/>
              <a:buAutoNum type="alphaLcParenR"/>
            </a:pPr>
            <a:r>
              <a:rPr lang="en-IN" sz="2000" dirty="0" err="1">
                <a:latin typeface="Calibri" panose="020F0502020204030204" pitchFamily="34" charset="0"/>
                <a:ea typeface="Calibri" panose="020F0502020204030204" pitchFamily="34" charset="0"/>
                <a:cs typeface="Calibri" panose="020F0502020204030204" pitchFamily="34" charset="0"/>
              </a:rPr>
              <a:t>sklearn.metrics</a:t>
            </a:r>
            <a:endParaRPr lang="en-IN" sz="2000" dirty="0">
              <a:latin typeface="Calibri" panose="020F0502020204030204" pitchFamily="34" charset="0"/>
              <a:ea typeface="Calibri" panose="020F0502020204030204" pitchFamily="34" charset="0"/>
              <a:cs typeface="Calibri" panose="020F0502020204030204" pitchFamily="34" charset="0"/>
            </a:endParaRPr>
          </a:p>
          <a:p>
            <a:pPr marL="457200" indent="-457200">
              <a:buFont typeface="+mj-lt"/>
              <a:buAutoNum type="alphaLcParenR"/>
            </a:pPr>
            <a:r>
              <a:rPr lang="en-IN" sz="2000" dirty="0" err="1">
                <a:latin typeface="Calibri" panose="020F0502020204030204" pitchFamily="34" charset="0"/>
                <a:ea typeface="Calibri" panose="020F0502020204030204" pitchFamily="34" charset="0"/>
                <a:cs typeface="Calibri" panose="020F0502020204030204" pitchFamily="34" charset="0"/>
              </a:rPr>
              <a:t>xgboost</a:t>
            </a:r>
            <a:endParaRPr lang="en-IN" sz="2000" dirty="0">
              <a:latin typeface="Calibri" panose="020F0502020204030204" pitchFamily="34" charset="0"/>
              <a:ea typeface="Calibri" panose="020F0502020204030204" pitchFamily="34" charset="0"/>
              <a:cs typeface="Calibri" panose="020F0502020204030204" pitchFamily="34" charset="0"/>
            </a:endParaRPr>
          </a:p>
          <a:p>
            <a:pPr marL="457200" indent="-457200">
              <a:buFont typeface="+mj-lt"/>
              <a:buAutoNum type="alphaLcParenR"/>
            </a:pPr>
            <a:r>
              <a:rPr lang="en-IN" sz="2000" dirty="0" err="1">
                <a:latin typeface="Calibri" panose="020F0502020204030204" pitchFamily="34" charset="0"/>
                <a:ea typeface="Calibri" panose="020F0502020204030204" pitchFamily="34" charset="0"/>
                <a:cs typeface="Calibri" panose="020F0502020204030204" pitchFamily="34" charset="0"/>
              </a:rPr>
              <a:t>matplotlib.pyplot</a:t>
            </a:r>
            <a:endParaRPr lang="en-IN" sz="2000" dirty="0">
              <a:latin typeface="Calibri" panose="020F0502020204030204" pitchFamily="34" charset="0"/>
              <a:ea typeface="Calibri" panose="020F0502020204030204" pitchFamily="34" charset="0"/>
              <a:cs typeface="Calibri" panose="020F0502020204030204" pitchFamily="34" charset="0"/>
            </a:endParaRPr>
          </a:p>
          <a:p>
            <a:pPr marL="457200" indent="-457200">
              <a:buFont typeface="+mj-lt"/>
              <a:buAutoNum type="alphaLcParenR"/>
            </a:pPr>
            <a:r>
              <a:rPr lang="en-IN" sz="2000" dirty="0">
                <a:latin typeface="Calibri" panose="020F0502020204030204" pitchFamily="34" charset="0"/>
                <a:ea typeface="Calibri" panose="020F0502020204030204" pitchFamily="34" charset="0"/>
                <a:cs typeface="Calibri" panose="020F0502020204030204" pitchFamily="34" charset="0"/>
              </a:rPr>
              <a:t>seaborn</a:t>
            </a:r>
          </a:p>
        </p:txBody>
      </p:sp>
    </p:spTree>
    <p:extLst>
      <p:ext uri="{BB962C8B-B14F-4D97-AF65-F5344CB8AC3E}">
        <p14:creationId xmlns:p14="http://schemas.microsoft.com/office/powerpoint/2010/main" xmlns="" val="10746839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4107" y="811635"/>
            <a:ext cx="8719225" cy="555770"/>
          </a:xfrm>
        </p:spPr>
        <p:txBody>
          <a:bodyPr>
            <a:noAutofit/>
          </a:bodyPr>
          <a:lstStyle/>
          <a:p>
            <a:r>
              <a:rPr lang="en-IN" dirty="0"/>
              <a:t>RESULTS AND DISCUSSION</a:t>
            </a:r>
            <a:r>
              <a:rPr lang="en-US" b="1" dirty="0">
                <a:solidFill>
                  <a:srgbClr val="7030A0"/>
                </a:solidFill>
                <a:latin typeface="Arial" pitchFamily="34" charset="0"/>
                <a:cs typeface="Arial" pitchFamily="34" charset="0"/>
              </a:rPr>
              <a:t/>
            </a:r>
            <a:br>
              <a:rPr lang="en-US" b="1" dirty="0">
                <a:solidFill>
                  <a:srgbClr val="7030A0"/>
                </a:solidFill>
                <a:latin typeface="Arial" pitchFamily="34" charset="0"/>
                <a:cs typeface="Arial" pitchFamily="34" charset="0"/>
              </a:rPr>
            </a:br>
            <a:endParaRPr lang="en-US" dirty="0"/>
          </a:p>
        </p:txBody>
      </p:sp>
      <p:sp>
        <p:nvSpPr>
          <p:cNvPr id="3" name="Text Placeholder 2"/>
          <p:cNvSpPr>
            <a:spLocks noGrp="1"/>
          </p:cNvSpPr>
          <p:nvPr>
            <p:ph type="body" idx="1"/>
          </p:nvPr>
        </p:nvSpPr>
        <p:spPr>
          <a:xfrm>
            <a:off x="324107" y="1426129"/>
            <a:ext cx="8362693" cy="5010428"/>
          </a:xfrm>
        </p:spPr>
        <p:txBody>
          <a:bodyPr>
            <a:normAutofit lnSpcReduction="10000"/>
          </a:bodyPr>
          <a:lstStyle/>
          <a:p>
            <a:pPr algn="just">
              <a:buFont typeface="Arial" pitchFamily="34" charset="0"/>
              <a:buChar char="•"/>
            </a:pPr>
            <a:r>
              <a:rPr lang="en-US" dirty="0"/>
              <a:t>Reduced Energy Consumption: By predicting energy demand accurately, energy waste can be minimized.</a:t>
            </a:r>
          </a:p>
          <a:p>
            <a:pPr algn="just">
              <a:buFont typeface="Arial" pitchFamily="34" charset="0"/>
              <a:buChar char="•"/>
            </a:pPr>
            <a:r>
              <a:rPr lang="en-US" dirty="0"/>
              <a:t>Cost Savings: Improved energy efficiency and reduced waste lead to cost savings for utility companies and consumers.</a:t>
            </a:r>
          </a:p>
          <a:p>
            <a:pPr algn="just">
              <a:buFont typeface="Arial" pitchFamily="34" charset="0"/>
              <a:buChar char="•"/>
            </a:pPr>
            <a:r>
              <a:rPr lang="en-US" dirty="0"/>
              <a:t>Environmental Benefits: By promoting sustainable energy use, the solution contributes to a reduction in greenhouse gas emissions and environmental pollution.</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07C68CA-4E24-70B1-18FD-04DAB9FECCF9}"/>
              </a:ext>
            </a:extLst>
          </p:cNvPr>
          <p:cNvSpPr>
            <a:spLocks noGrp="1"/>
          </p:cNvSpPr>
          <p:nvPr>
            <p:ph type="title"/>
          </p:nvPr>
        </p:nvSpPr>
        <p:spPr/>
        <p:txBody>
          <a:bodyPr/>
          <a:lstStyle/>
          <a:p>
            <a:r>
              <a:rPr lang="en-IN" dirty="0"/>
              <a:t>REFERENCES(1/2)</a:t>
            </a:r>
          </a:p>
        </p:txBody>
      </p:sp>
      <p:sp>
        <p:nvSpPr>
          <p:cNvPr id="3" name="Text Placeholder 2">
            <a:extLst>
              <a:ext uri="{FF2B5EF4-FFF2-40B4-BE49-F238E27FC236}">
                <a16:creationId xmlns:a16="http://schemas.microsoft.com/office/drawing/2014/main" xmlns="" id="{108EA102-FDB2-E9E3-99A5-20CE34189E0C}"/>
              </a:ext>
            </a:extLst>
          </p:cNvPr>
          <p:cNvSpPr>
            <a:spLocks noGrp="1"/>
          </p:cNvSpPr>
          <p:nvPr>
            <p:ph type="body" idx="1"/>
          </p:nvPr>
        </p:nvSpPr>
        <p:spPr>
          <a:xfrm>
            <a:off x="457200" y="1371600"/>
            <a:ext cx="8229600" cy="5257800"/>
          </a:xfrm>
        </p:spPr>
        <p:txBody>
          <a:bodyPr>
            <a:normAutofit/>
          </a:bodyPr>
          <a:lstStyle/>
          <a:p>
            <a:r>
              <a:rPr lang="en-US" sz="1700" dirty="0"/>
              <a:t>A. Torres, A. </a:t>
            </a:r>
            <a:r>
              <a:rPr lang="en-US" sz="1700" dirty="0" err="1"/>
              <a:t>Colominas</a:t>
            </a:r>
            <a:r>
              <a:rPr lang="en-US" sz="1700" dirty="0"/>
              <a:t>, J. Schlotthauer, and M. E. Torres, “An Application of Ensemble Machine Learning for Forecasting Electrical Demand,” </a:t>
            </a:r>
            <a:r>
              <a:rPr lang="en-US" sz="1700" i="1" dirty="0"/>
              <a:t>Applied Energy</a:t>
            </a:r>
            <a:r>
              <a:rPr lang="en-US" sz="1700" dirty="0"/>
              <a:t>, vol. 253, p. 113596, 2019.</a:t>
            </a:r>
          </a:p>
          <a:p>
            <a:r>
              <a:rPr lang="en-US" sz="1700" dirty="0"/>
              <a:t>D. Li and T. Hong, “Load Forecasting Using Gradient Boosted Regression Trees,” </a:t>
            </a:r>
            <a:r>
              <a:rPr lang="en-US" sz="1700" i="1" dirty="0"/>
              <a:t>Energy Procedia</a:t>
            </a:r>
            <a:r>
              <a:rPr lang="en-US" sz="1700" dirty="0"/>
              <a:t>, vol. 88, pp. 109–114, 2016.</a:t>
            </a:r>
          </a:p>
          <a:p>
            <a:r>
              <a:rPr lang="en-US" sz="1700" dirty="0"/>
              <a:t>H. S. Hippert, C. E. Pedreira, and R. C. Souza, “Neural Networks for Short-Term Load Forecasting: A Review and Evaluation,” </a:t>
            </a:r>
            <a:r>
              <a:rPr lang="en-US" sz="1700" i="1" dirty="0"/>
              <a:t>IEEE Transactions on Power Systems</a:t>
            </a:r>
            <a:r>
              <a:rPr lang="en-US" sz="1700" dirty="0"/>
              <a:t>, vol. 16, no. 1, pp. 44–55, 2001.</a:t>
            </a:r>
            <a:endParaRPr lang="en-IN" sz="1700" dirty="0"/>
          </a:p>
          <a:p>
            <a:r>
              <a:rPr lang="en-US" sz="1700" dirty="0"/>
              <a:t>J. W. Taylor, “Short-Term Load Forecasting with Exponential Smoothing Models,” </a:t>
            </a:r>
            <a:r>
              <a:rPr lang="en-US" sz="1700" i="1" dirty="0"/>
              <a:t>International Journal of Forecasting</a:t>
            </a:r>
            <a:r>
              <a:rPr lang="en-US" sz="1700" dirty="0"/>
              <a:t>, vol. 19, no. 3, pp. 435–446, 2003.</a:t>
            </a:r>
          </a:p>
          <a:p>
            <a:r>
              <a:rPr lang="en-US" sz="1700" dirty="0"/>
              <a:t>K. </a:t>
            </a:r>
            <a:r>
              <a:rPr lang="en-US" sz="1700" dirty="0" err="1"/>
              <a:t>Kandananond</a:t>
            </a:r>
            <a:r>
              <a:rPr lang="en-US" sz="1700" dirty="0"/>
              <a:t>, “Forecasting Electricity Demand in Thailand with an Artificial Neural Network Approach,” </a:t>
            </a:r>
            <a:r>
              <a:rPr lang="en-US" sz="1700" i="1" dirty="0"/>
              <a:t>Energies</a:t>
            </a:r>
            <a:r>
              <a:rPr lang="en-US" sz="1700" dirty="0"/>
              <a:t>, vol. 4, no. 8, pp. 1246–1257, 2011.</a:t>
            </a:r>
            <a:endParaRPr lang="en-IN" sz="1700" dirty="0"/>
          </a:p>
          <a:p>
            <a:r>
              <a:rPr lang="en-US" sz="1700" dirty="0"/>
              <a:t>L. Gómez, R. A. </a:t>
            </a:r>
            <a:r>
              <a:rPr lang="en-US" sz="1700" dirty="0" err="1"/>
              <a:t>Reátegui</a:t>
            </a:r>
            <a:r>
              <a:rPr lang="en-US" sz="1700" dirty="0"/>
              <a:t>, and M. Ortega, “Machine Learning-Based Prediction of Urban Energy Consumption with Weather Data Fusion,” </a:t>
            </a:r>
            <a:r>
              <a:rPr lang="en-US" sz="1700" i="1" dirty="0"/>
              <a:t>Sustainable Cities and Society</a:t>
            </a:r>
            <a:r>
              <a:rPr lang="en-US" sz="1700" dirty="0"/>
              <a:t>, vol. 74, p. 103204, 2021.</a:t>
            </a:r>
            <a:endParaRPr lang="en-IN" sz="1700" dirty="0"/>
          </a:p>
          <a:p>
            <a:r>
              <a:rPr lang="en-US" sz="1700" dirty="0"/>
              <a:t>M. </a:t>
            </a:r>
            <a:r>
              <a:rPr lang="en-US" sz="1700" dirty="0" err="1"/>
              <a:t>Amjady</a:t>
            </a:r>
            <a:r>
              <a:rPr lang="en-US" sz="1700" dirty="0"/>
              <a:t> and E. Keynia, “Short-Term Load Forecasting of Power Systems by Combination of Wavelet Transform and Neuro-Evolutionary Algorithm,” </a:t>
            </a:r>
            <a:r>
              <a:rPr lang="en-US" sz="1700" i="1" dirty="0"/>
              <a:t>Energy</a:t>
            </a:r>
            <a:r>
              <a:rPr lang="en-US" sz="1700" dirty="0"/>
              <a:t>, vol. 36, no. 5, pp. 2866–2877, 2011.</a:t>
            </a:r>
            <a:endParaRPr lang="en-IN" sz="1700" dirty="0"/>
          </a:p>
          <a:p>
            <a:endParaRPr lang="en-IN" sz="1600" dirty="0"/>
          </a:p>
          <a:p>
            <a:endParaRPr lang="en-IN" sz="1600" dirty="0"/>
          </a:p>
          <a:p>
            <a:endParaRPr lang="en-IN" sz="1600" dirty="0"/>
          </a:p>
          <a:p>
            <a:endParaRPr lang="en-IN" dirty="0"/>
          </a:p>
        </p:txBody>
      </p:sp>
      <p:sp>
        <p:nvSpPr>
          <p:cNvPr id="4" name="Slide Number Placeholder 3">
            <a:extLst>
              <a:ext uri="{FF2B5EF4-FFF2-40B4-BE49-F238E27FC236}">
                <a16:creationId xmlns:a16="http://schemas.microsoft.com/office/drawing/2014/main" xmlns="" id="{43DABE94-31EA-AB11-096D-F5ADC45925D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16</a:t>
            </a:fld>
            <a:endParaRPr lang="en-US"/>
          </a:p>
        </p:txBody>
      </p:sp>
    </p:spTree>
    <p:extLst>
      <p:ext uri="{BB962C8B-B14F-4D97-AF65-F5344CB8AC3E}">
        <p14:creationId xmlns:p14="http://schemas.microsoft.com/office/powerpoint/2010/main" xmlns="" val="42188202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BB7902F-BA25-CC83-08E9-C185817BDF3F}"/>
              </a:ext>
            </a:extLst>
          </p:cNvPr>
          <p:cNvSpPr>
            <a:spLocks noGrp="1"/>
          </p:cNvSpPr>
          <p:nvPr>
            <p:ph type="title"/>
          </p:nvPr>
        </p:nvSpPr>
        <p:spPr/>
        <p:txBody>
          <a:bodyPr/>
          <a:lstStyle/>
          <a:p>
            <a:r>
              <a:rPr lang="en-IN" dirty="0"/>
              <a:t>REFERENCES(2/2)</a:t>
            </a:r>
          </a:p>
        </p:txBody>
      </p:sp>
      <p:sp>
        <p:nvSpPr>
          <p:cNvPr id="3" name="Text Placeholder 2">
            <a:extLst>
              <a:ext uri="{FF2B5EF4-FFF2-40B4-BE49-F238E27FC236}">
                <a16:creationId xmlns:a16="http://schemas.microsoft.com/office/drawing/2014/main" xmlns="" id="{B7913F44-64CB-B10A-7943-3C299A18091B}"/>
              </a:ext>
            </a:extLst>
          </p:cNvPr>
          <p:cNvSpPr>
            <a:spLocks noGrp="1"/>
          </p:cNvSpPr>
          <p:nvPr>
            <p:ph type="body" idx="1"/>
          </p:nvPr>
        </p:nvSpPr>
        <p:spPr/>
        <p:txBody>
          <a:bodyPr>
            <a:normAutofit/>
          </a:bodyPr>
          <a:lstStyle/>
          <a:p>
            <a:r>
              <a:rPr lang="en-US" sz="1600" dirty="0"/>
              <a:t>R. Prakash and S. Nair, “Energy Consumption Prediction Using </a:t>
            </a:r>
            <a:r>
              <a:rPr lang="en-US" sz="1600" dirty="0" err="1"/>
              <a:t>XGBoost</a:t>
            </a:r>
            <a:r>
              <a:rPr lang="en-US" sz="1600" dirty="0"/>
              <a:t> and Time-Series Feature Engineering,” </a:t>
            </a:r>
            <a:r>
              <a:rPr lang="en-US" sz="1600" i="1" dirty="0"/>
              <a:t>Journal of Energy Informatics</a:t>
            </a:r>
            <a:r>
              <a:rPr lang="en-US" sz="1600" dirty="0"/>
              <a:t>, vol. 5, no. 2, pp. 1–14, 2022.</a:t>
            </a:r>
          </a:p>
          <a:p>
            <a:r>
              <a:rPr lang="en-US" sz="1600" dirty="0"/>
              <a:t>T. Chen and C. </a:t>
            </a:r>
            <a:r>
              <a:rPr lang="en-US" sz="1600" dirty="0" err="1"/>
              <a:t>Guestrin</a:t>
            </a:r>
            <a:r>
              <a:rPr lang="en-US" sz="1600" dirty="0"/>
              <a:t>, “</a:t>
            </a:r>
            <a:r>
              <a:rPr lang="en-US" sz="1600" dirty="0" err="1"/>
              <a:t>XGBoost</a:t>
            </a:r>
            <a:r>
              <a:rPr lang="en-US" sz="1600" dirty="0"/>
              <a:t>: A Scalable Tree Boosting System,” </a:t>
            </a:r>
            <a:r>
              <a:rPr lang="en-US" sz="1600" i="1" dirty="0"/>
              <a:t>Proceedings of the 22nd ACM SIGKDD International Conference on Knowledge Discovery and Data Mining</a:t>
            </a:r>
            <a:r>
              <a:rPr lang="en-US" sz="1600" dirty="0"/>
              <a:t>, pp. 785–794, 2016.</a:t>
            </a:r>
          </a:p>
          <a:p>
            <a:r>
              <a:rPr lang="en-US" sz="1600" dirty="0"/>
              <a:t>W. Kong, Z. Y. Dong, D. J. Hill, F. Luo, and X. Ma, “Short-Term Residential Load Forecasting Based on LSTM Recurrent Neural Network,” </a:t>
            </a:r>
            <a:r>
              <a:rPr lang="en-US" sz="1600" i="1" dirty="0"/>
              <a:t>IEEE Transactions on Smart Grid</a:t>
            </a:r>
            <a:r>
              <a:rPr lang="en-US" sz="1600" dirty="0"/>
              <a:t>, vol. 10, no. 1, pp. 841–851, 2019.</a:t>
            </a:r>
            <a:endParaRPr lang="en-IN" sz="1600" dirty="0"/>
          </a:p>
          <a:p>
            <a:endParaRPr lang="en-IN" sz="1600" dirty="0"/>
          </a:p>
          <a:p>
            <a:endParaRPr lang="en-IN" sz="1600" dirty="0"/>
          </a:p>
        </p:txBody>
      </p:sp>
      <p:sp>
        <p:nvSpPr>
          <p:cNvPr id="4" name="Slide Number Placeholder 3">
            <a:extLst>
              <a:ext uri="{FF2B5EF4-FFF2-40B4-BE49-F238E27FC236}">
                <a16:creationId xmlns:a16="http://schemas.microsoft.com/office/drawing/2014/main" xmlns="" id="{4E1ABC89-A6EC-3547-FF74-03005F8E4D8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17</a:t>
            </a:fld>
            <a:endParaRPr lang="en-US"/>
          </a:p>
        </p:txBody>
      </p:sp>
    </p:spTree>
    <p:extLst>
      <p:ext uri="{BB962C8B-B14F-4D97-AF65-F5344CB8AC3E}">
        <p14:creationId xmlns:p14="http://schemas.microsoft.com/office/powerpoint/2010/main" xmlns="" val="12730743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THANK YOU</a:t>
            </a:r>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FE8A9F4-4DB3-4EF1-A315-68E41BB689F2}"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 December 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School of Computing - CSE</a:t>
            </a: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B28076C-CE04-4A00-BFAA-A90EA8355859}"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Rectangle 5"/>
          <p:cNvSpPr/>
          <p:nvPr/>
        </p:nvSpPr>
        <p:spPr>
          <a:xfrm>
            <a:off x="609600" y="2690336"/>
            <a:ext cx="7918940" cy="1384995"/>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IN" sz="2800" b="0" i="0" u="none" strike="noStrike" kern="1200" cap="none" spc="0" normalizeH="0" baseline="0" noProof="0" dirty="0">
                <a:ln>
                  <a:noFill/>
                </a:ln>
                <a:solidFill>
                  <a:prstClr val="black"/>
                </a:solidFill>
                <a:effectLst/>
                <a:uLnTx/>
                <a:uFillTx/>
                <a:latin typeface="Calibri"/>
                <a:ea typeface="+mn-ea"/>
                <a:cs typeface="+mn-cs"/>
              </a:rPr>
              <a:t>We thank God, Our Department, Guide, Panel Members, Supportive Professors and all Technical and non Technical staff who helped us in our Project.</a:t>
            </a:r>
          </a:p>
        </p:txBody>
      </p:sp>
    </p:spTree>
    <p:extLst>
      <p:ext uri="{BB962C8B-B14F-4D97-AF65-F5344CB8AC3E}">
        <p14:creationId xmlns:p14="http://schemas.microsoft.com/office/powerpoint/2010/main" xmlns="" val="1111329394"/>
      </p:ext>
    </p:extLst>
  </p:cSld>
  <p:clrMapOvr>
    <a:masterClrMapping/>
  </p:clrMapOvr>
</p:sld>
</file>

<file path=ppt/theme/theme1.xml><?xml version="1.0" encoding="utf-8"?>
<a:theme xmlns:a="http://schemas.openxmlformats.org/drawingml/2006/main"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578</TotalTime>
  <Words>1249</Words>
  <Application>Microsoft Office PowerPoint</Application>
  <PresentationFormat>On-screen Show (4:3)</PresentationFormat>
  <Paragraphs>147</Paragraphs>
  <Slides>18</Slides>
  <Notes>7</Notes>
  <HiddenSlides>0</HiddenSlides>
  <MMClips>0</MMClips>
  <ScaleCrop>false</ScaleCrop>
  <HeadingPairs>
    <vt:vector size="4" baseType="variant">
      <vt:variant>
        <vt:lpstr>Theme</vt:lpstr>
      </vt:variant>
      <vt:variant>
        <vt:i4>2</vt:i4>
      </vt:variant>
      <vt:variant>
        <vt:lpstr>Slide Titles</vt:lpstr>
      </vt:variant>
      <vt:variant>
        <vt:i4>18</vt:i4>
      </vt:variant>
    </vt:vector>
  </HeadingPairs>
  <TitlesOfParts>
    <vt:vector size="20" baseType="lpstr">
      <vt:lpstr>Custom Design</vt:lpstr>
      <vt:lpstr>1_Custom Design</vt:lpstr>
      <vt:lpstr>  </vt:lpstr>
      <vt:lpstr>AGENDA</vt:lpstr>
      <vt:lpstr>ABSTRACT</vt:lpstr>
      <vt:lpstr>OBJECTIVE(S)</vt:lpstr>
      <vt:lpstr>LITERATURE SURVEY(1/5)</vt:lpstr>
      <vt:lpstr>LITERATURE SURVEY(2/5)</vt:lpstr>
      <vt:lpstr>LITERATURE SURVEY(3/5)</vt:lpstr>
      <vt:lpstr>LITERATURE SURVEY(4/5)</vt:lpstr>
      <vt:lpstr>LITERATURE SURVEY(5/5)</vt:lpstr>
      <vt:lpstr>INFERENCES FROM LITERATURE SURVEY</vt:lpstr>
      <vt:lpstr>PROPOSED SYSTEM(1/2)</vt:lpstr>
      <vt:lpstr>PROPOSED SYSTEM(2/2)</vt:lpstr>
      <vt:lpstr>MODULES(1/2)</vt:lpstr>
      <vt:lpstr>MODULES(2/2)</vt:lpstr>
      <vt:lpstr>RESULTS AND DISCUSSION </vt:lpstr>
      <vt:lpstr>REFERENCES(1/2)</vt:lpstr>
      <vt:lpstr>REFERENCES(2/2)</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Bharath Kumar</dc:creator>
  <cp:lastModifiedBy>Venu Dubaguntla</cp:lastModifiedBy>
  <cp:revision>13</cp:revision>
  <dcterms:modified xsi:type="dcterms:W3CDTF">2025-12-15T12:28:55Z</dcterms:modified>
</cp:coreProperties>
</file>